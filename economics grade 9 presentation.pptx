
<file path=[Content_Types].xml><?xml version="1.0" encoding="utf-8"?>
<Types xmlns="http://schemas.openxmlformats.org/package/2006/content-types">
  <Default Extension="fntdata" ContentType="application/x-fontdata"/>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Crimson Text" pitchFamily="2" charset="0"/>
      <p:regular r:id="rId11"/>
    </p:embeddedFont>
    <p:embeddedFont>
      <p:font typeface="Crimson Text SemiBold" pitchFamily="2" charset="0"/>
      <p:regular r:id="rId12"/>
      <p:bold r:id="rId13"/>
    </p:embeddedFont>
    <p:embeddedFont>
      <p:font typeface="Federo" panose="02000000000000000000" pitchFamily="2"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192E"/>
    <a:srgbClr val="0F141A"/>
    <a:srgbClr val="13181F"/>
    <a:srgbClr val="08101A"/>
    <a:srgbClr val="12171E"/>
    <a:srgbClr val="FEF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p:scale>
          <a:sx n="107" d="100"/>
          <a:sy n="107" d="100"/>
        </p:scale>
        <p:origin x="76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003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policies often begin with a sensible aim: helping people. The question is whether the way a policy works can create another difficulty. Emphasise “unintended”: a harmful effect need not be deliberate. Start by looking at the balance every intervention must consider.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Markets can fail, so intervention can be valuable. But people respond to the incentives a policy creates, not only its intentions. Emphasise that welfare and efficiency both matter. A hypothetical wheat price shows how the aim of affordability can meet a supply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prices are hypothetical, not a report about an actual wheat policy. Assume ₹30 is the equilibrium price. At a ₹20 ceiling, wheat becomes cheaper for buyers, but selling it may become less attractive for producers. Emphasise “may”: shortage depends on the circumstances. Price is one signal; procedures can create a different kind of barrier.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restaurant needs genuine safety standards. The difficulty arises when procedures overlap or become unnecessarily complicated. A small owner has less money and staff to absorb those costs. Emphasise that simpler administration can preserve protection. Next, consider how uncertain returns influence investment in the future.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farmer considers future earnings before paying for better seeds or equipment. If expected returns are inadequate or uncertain, that investment may be postponed. The pictures show possibilities, not a guaranteed transformation. Emphasise “incentives to invest”. These examples now come together in one underlying challenge.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limitations affect different decisions: what to supply, how to operate, and whether to invest. All can arise when policy overlooks how people respond. Emphasise “poorly designed”, rather than government action in general. The answer is to improve policy design, not automatically remove intervention.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pillars balance protection with the ability to produce and improve. A government can simplify procedures without weakening safety, and support affordability while considering supply. Emphasise “smarter”. Return to our central question: how can helping people today preserve their opportunities tomorrow?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the title. A policy should be judged by both its immediate benefit and the responses it encourages over time. Emphasise “tomorrow”. Finish with the question, thank the audience, and invite discussion about how protection and opportunity can work together.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A192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192F">
              <a:alpha val="5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DFBF7"/>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A192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711200"/>
            <a:ext cx="7315017"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FFFFFF"/>
                </a:solidFill>
                <a:latin typeface="Federo" pitchFamily="34" charset="0"/>
                <a:ea typeface="Federo" pitchFamily="34" charset="-122"/>
                <a:cs typeface="Federo" pitchFamily="34" charset="-120"/>
              </a:rPr>
              <a:t>ECONOMICS · GRADE IX</a:t>
            </a:r>
            <a:endParaRPr lang="en-US" sz="1050" dirty="0"/>
          </a:p>
        </p:txBody>
      </p:sp>
      <p:sp>
        <p:nvSpPr>
          <p:cNvPr id="3" name="Text 1"/>
          <p:cNvSpPr/>
          <p:nvPr/>
        </p:nvSpPr>
        <p:spPr>
          <a:xfrm>
            <a:off x="711182" y="2239564"/>
            <a:ext cx="6705432" cy="2011561"/>
          </a:xfrm>
          <a:prstGeom prst="rect">
            <a:avLst/>
          </a:prstGeom>
          <a:noFill/>
          <a:ln/>
        </p:spPr>
        <p:txBody>
          <a:bodyPr wrap="square" lIns="0" tIns="0" rIns="0" bIns="0" rtlCol="0" anchor="t">
            <a:normAutofit lnSpcReduction="10000"/>
          </a:bodyPr>
          <a:lstStyle/>
          <a:p>
            <a:pPr marL="0" indent="0" algn="l">
              <a:lnSpc>
                <a:spcPct val="92000"/>
              </a:lnSpc>
              <a:buNone/>
            </a:pPr>
            <a:r>
              <a:rPr lang="en-US" sz="4800" dirty="0">
                <a:solidFill>
                  <a:srgbClr val="FFFFFF"/>
                </a:solidFill>
                <a:latin typeface="Federo" pitchFamily="34" charset="0"/>
                <a:ea typeface="Federo" pitchFamily="34" charset="-122"/>
                <a:cs typeface="Federo" pitchFamily="34" charset="-120"/>
              </a:rPr>
              <a:t>LIMITATIONS OF GOVERNMENT INTERVENTION</a:t>
            </a:r>
            <a:endParaRPr lang="en-US" sz="4800" dirty="0"/>
          </a:p>
        </p:txBody>
      </p:sp>
      <p:sp>
        <p:nvSpPr>
          <p:cNvPr id="4" name="Shape 2"/>
          <p:cNvSpPr/>
          <p:nvPr/>
        </p:nvSpPr>
        <p:spPr>
          <a:xfrm>
            <a:off x="711182" y="4492625"/>
            <a:ext cx="2212622" cy="19050"/>
          </a:xfrm>
          <a:prstGeom prst="roundRect">
            <a:avLst>
              <a:gd name="adj" fmla="val 49999"/>
            </a:avLst>
          </a:prstGeom>
          <a:solidFill>
            <a:srgbClr val="D4AF37"/>
          </a:solidFill>
          <a:ln/>
        </p:spPr>
      </p:sp>
      <p:sp>
        <p:nvSpPr>
          <p:cNvPr id="5" name="Text 3"/>
          <p:cNvSpPr/>
          <p:nvPr/>
        </p:nvSpPr>
        <p:spPr>
          <a:xfrm>
            <a:off x="711182" y="4949825"/>
            <a:ext cx="6705432"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Crimson Text" pitchFamily="34" charset="0"/>
                <a:ea typeface="Crimson Text" pitchFamily="34" charset="-122"/>
                <a:cs typeface="Crimson Text" pitchFamily="34" charset="-120"/>
              </a:rPr>
              <a:t>When good intentions produce unintended consequences.</a:t>
            </a:r>
            <a:endParaRPr lang="en-US" sz="2000" dirty="0"/>
          </a:p>
        </p:txBody>
      </p:sp>
      <p:sp>
        <p:nvSpPr>
          <p:cNvPr id="6" name="Text 4"/>
          <p:cNvSpPr/>
          <p:nvPr/>
        </p:nvSpPr>
        <p:spPr>
          <a:xfrm>
            <a:off x="711182" y="5384800"/>
            <a:ext cx="6705432" cy="762000"/>
          </a:xfrm>
          <a:prstGeom prst="rect">
            <a:avLst/>
          </a:prstGeom>
          <a:noFill/>
          <a:ln/>
        </p:spPr>
        <p:txBody>
          <a:bodyPr wrap="square" lIns="0" tIns="0" rIns="0" bIns="0" rtlCol="0" anchor="t">
            <a:normAutofit/>
          </a:bodyPr>
          <a:lstStyle/>
          <a:p>
            <a:pPr marL="0" indent="0" algn="l">
              <a:lnSpc>
                <a:spcPct val="125000"/>
              </a:lnSpc>
              <a:buNone/>
            </a:pPr>
            <a:r>
              <a:rPr lang="en-US" sz="2000" dirty="0">
                <a:solidFill>
                  <a:srgbClr val="FFFFFF"/>
                </a:solidFill>
                <a:latin typeface="Crimson Text" pitchFamily="34" charset="0"/>
                <a:ea typeface="Crimson Text" pitchFamily="34" charset="-122"/>
                <a:cs typeface="Crimson Text" pitchFamily="34" charset="-120"/>
              </a:rPr>
              <a:t>Can a policy designed to help people end up creating a new problem?</a:t>
            </a:r>
            <a:endParaRPr lang="en-US" sz="2000" dirty="0"/>
          </a:p>
        </p:txBody>
      </p:sp>
      <p:sp>
        <p:nvSpPr>
          <p:cNvPr id="9" name="Rectangle 8">
            <a:extLst>
              <a:ext uri="{FF2B5EF4-FFF2-40B4-BE49-F238E27FC236}">
                <a16:creationId xmlns:a16="http://schemas.microsoft.com/office/drawing/2014/main" id="{BC8B00EC-9682-64FC-3120-AEB98374A0E9}"/>
              </a:ext>
            </a:extLst>
          </p:cNvPr>
          <p:cNvSpPr/>
          <p:nvPr/>
        </p:nvSpPr>
        <p:spPr>
          <a:xfrm>
            <a:off x="10996551" y="6483927"/>
            <a:ext cx="439387" cy="374073"/>
          </a:xfrm>
          <a:prstGeom prst="rect">
            <a:avLst/>
          </a:prstGeom>
          <a:solidFill>
            <a:srgbClr val="1217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C634EA1-647F-7826-7F7E-65AD428E933D}"/>
              </a:ext>
            </a:extLst>
          </p:cNvPr>
          <p:cNvSpPr/>
          <p:nvPr/>
        </p:nvSpPr>
        <p:spPr>
          <a:xfrm>
            <a:off x="11435938" y="6483926"/>
            <a:ext cx="439387" cy="374073"/>
          </a:xfrm>
          <a:prstGeom prst="rect">
            <a:avLst/>
          </a:prstGeom>
          <a:solidFill>
            <a:srgbClr val="0F1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A2A5ADC-1CDE-1648-8C39-3C5951DD5100}"/>
              </a:ext>
            </a:extLst>
          </p:cNvPr>
          <p:cNvSpPr/>
          <p:nvPr/>
        </p:nvSpPr>
        <p:spPr>
          <a:xfrm>
            <a:off x="11752613" y="6483925"/>
            <a:ext cx="439387" cy="374073"/>
          </a:xfrm>
          <a:prstGeom prst="rect">
            <a:avLst/>
          </a:prstGeom>
          <a:solidFill>
            <a:srgbClr val="0F1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velariomusic-relax-582875.mp3">
            <a:hlinkClick r:id="" action="ppaction://media"/>
            <a:extLst>
              <a:ext uri="{FF2B5EF4-FFF2-40B4-BE49-F238E27FC236}">
                <a16:creationId xmlns:a16="http://schemas.microsoft.com/office/drawing/2014/main" id="{0D97CA97-DD55-264B-1302-C74EBE749FC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flipH="1">
            <a:off x="12653816" y="4949825"/>
            <a:ext cx="114100" cy="1141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remove" display="0">
                  <p:stCondLst>
                    <p:cond delay="indefinite"/>
                  </p:stCondLst>
                  <p:endCondLst>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558800"/>
            <a:ext cx="11582110"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87552F"/>
                </a:solidFill>
                <a:latin typeface="Federo" pitchFamily="34" charset="0"/>
                <a:ea typeface="Federo" pitchFamily="34" charset="-122"/>
                <a:cs typeface="Federo" pitchFamily="34" charset="-120"/>
              </a:rPr>
              <a:t>THE ECONOMIC PARADOX</a:t>
            </a:r>
            <a:endParaRPr lang="en-US" sz="1050" dirty="0"/>
          </a:p>
        </p:txBody>
      </p:sp>
      <p:sp>
        <p:nvSpPr>
          <p:cNvPr id="3" name="Text 1"/>
          <p:cNvSpPr/>
          <p:nvPr/>
        </p:nvSpPr>
        <p:spPr>
          <a:xfrm>
            <a:off x="609585" y="868020"/>
            <a:ext cx="10972526" cy="446980"/>
          </a:xfrm>
          <a:prstGeom prst="rect">
            <a:avLst/>
          </a:prstGeom>
          <a:noFill/>
          <a:ln/>
        </p:spPr>
        <p:txBody>
          <a:bodyPr wrap="none" lIns="0" tIns="0" rIns="0" bIns="0" rtlCol="0" anchor="t"/>
          <a:lstStyle/>
          <a:p>
            <a:pPr marL="0" indent="0" algn="l">
              <a:lnSpc>
                <a:spcPct val="92000"/>
              </a:lnSpc>
              <a:buNone/>
            </a:pPr>
            <a:r>
              <a:rPr lang="en-US" sz="3200" dirty="0">
                <a:solidFill>
                  <a:srgbClr val="000000"/>
                </a:solidFill>
                <a:latin typeface="Federo" pitchFamily="34" charset="0"/>
                <a:ea typeface="Federo" pitchFamily="34" charset="-122"/>
                <a:cs typeface="Federo" pitchFamily="34" charset="-120"/>
              </a:rPr>
              <a:t>The economic paradox: fixing one problem can create another</a:t>
            </a:r>
            <a:endParaRPr lang="en-US" sz="3200" dirty="0"/>
          </a:p>
        </p:txBody>
      </p:sp>
      <p:pic>
        <p:nvPicPr>
          <p:cNvPr id="4" name="Image 0" descr="preencoded.png"/>
          <p:cNvPicPr>
            <a:picLocks noChangeAspect="1"/>
          </p:cNvPicPr>
          <p:nvPr/>
        </p:nvPicPr>
        <p:blipFill>
          <a:blip r:embed="rId3"/>
          <a:stretch>
            <a:fillRect/>
          </a:stretch>
        </p:blipFill>
        <p:spPr>
          <a:xfrm>
            <a:off x="609585" y="1523305"/>
            <a:ext cx="6309262" cy="3521472"/>
          </a:xfrm>
          <a:prstGeom prst="rect">
            <a:avLst/>
          </a:prstGeom>
        </p:spPr>
      </p:pic>
      <p:sp>
        <p:nvSpPr>
          <p:cNvPr id="5" name="Text 2"/>
          <p:cNvSpPr/>
          <p:nvPr/>
        </p:nvSpPr>
        <p:spPr>
          <a:xfrm>
            <a:off x="7375936" y="2652415"/>
            <a:ext cx="4206174" cy="279400"/>
          </a:xfrm>
          <a:prstGeom prst="rect">
            <a:avLst/>
          </a:prstGeom>
          <a:noFill/>
          <a:ln/>
        </p:spPr>
        <p:txBody>
          <a:bodyPr wrap="none" lIns="0" tIns="0" rIns="0" bIns="0" rtlCol="0" anchor="t"/>
          <a:lstStyle/>
          <a:p>
            <a:pPr marL="0" indent="0" algn="l">
              <a:lnSpc>
                <a:spcPct val="92000"/>
              </a:lnSpc>
              <a:buNone/>
            </a:pPr>
            <a:r>
              <a:rPr lang="en-US" sz="2000" dirty="0">
                <a:solidFill>
                  <a:srgbClr val="000000"/>
                </a:solidFill>
                <a:latin typeface="Crimson Text" pitchFamily="34" charset="0"/>
                <a:ea typeface="Crimson Text" pitchFamily="34" charset="-122"/>
                <a:cs typeface="Crimson Text" pitchFamily="34" charset="-120"/>
              </a:rPr>
              <a:t>Good aims need good design.</a:t>
            </a:r>
            <a:endParaRPr lang="en-US" sz="2000" dirty="0"/>
          </a:p>
        </p:txBody>
      </p:sp>
      <p:sp>
        <p:nvSpPr>
          <p:cNvPr id="6" name="Text 3"/>
          <p:cNvSpPr/>
          <p:nvPr/>
        </p:nvSpPr>
        <p:spPr>
          <a:xfrm>
            <a:off x="7375936" y="3087390"/>
            <a:ext cx="4206174"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C1A17"/>
                </a:solidFill>
                <a:latin typeface="Crimson Text" pitchFamily="34" charset="0"/>
                <a:ea typeface="Crimson Text" pitchFamily="34" charset="-122"/>
                <a:cs typeface="Crimson Text" pitchFamily="34" charset="-120"/>
              </a:rPr>
              <a:t>Poorly designed or excessive intervention can distort signals and create unintended costs.</a:t>
            </a:r>
            <a:endParaRPr lang="en-US" sz="1800" dirty="0"/>
          </a:p>
        </p:txBody>
      </p:sp>
      <p:sp>
        <p:nvSpPr>
          <p:cNvPr id="7" name="Shape 4"/>
          <p:cNvSpPr/>
          <p:nvPr/>
        </p:nvSpPr>
        <p:spPr>
          <a:xfrm>
            <a:off x="7375936" y="3950990"/>
            <a:ext cx="1387936" cy="19050"/>
          </a:xfrm>
          <a:prstGeom prst="roundRect">
            <a:avLst>
              <a:gd name="adj" fmla="val 49999"/>
            </a:avLst>
          </a:prstGeom>
          <a:solidFill>
            <a:srgbClr val="0A192F"/>
          </a:solidFill>
          <a:ln/>
        </p:spPr>
      </p:sp>
      <p:sp>
        <p:nvSpPr>
          <p:cNvPr id="8" name="Text 5"/>
          <p:cNvSpPr/>
          <p:nvPr/>
        </p:nvSpPr>
        <p:spPr>
          <a:xfrm>
            <a:off x="7375936" y="4147840"/>
            <a:ext cx="4206174" cy="10287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C1A17"/>
                </a:solidFill>
                <a:latin typeface="Crimson Text" pitchFamily="34" charset="0"/>
                <a:ea typeface="Crimson Text" pitchFamily="34" charset="-122"/>
                <a:cs typeface="Crimson Text" pitchFamily="34" charset="-120"/>
              </a:rPr>
              <a:t>The real question is not whether government should intervene, but how wisely it should do so.</a:t>
            </a:r>
            <a:endParaRPr lang="en-US" sz="1800" dirty="0"/>
          </a:p>
        </p:txBody>
      </p:sp>
      <p:sp>
        <p:nvSpPr>
          <p:cNvPr id="9" name="Text 6"/>
          <p:cNvSpPr/>
          <p:nvPr/>
        </p:nvSpPr>
        <p:spPr>
          <a:xfrm>
            <a:off x="10017172" y="135235"/>
            <a:ext cx="2174523" cy="186630"/>
          </a:xfrm>
          <a:prstGeom prst="rect">
            <a:avLst/>
          </a:prstGeom>
          <a:noFill/>
          <a:ln/>
        </p:spPr>
        <p:txBody>
          <a:bodyPr wrap="none" lIns="0" tIns="0" rIns="0" bIns="0" rtlCol="0" anchor="ctr"/>
          <a:lstStyle/>
          <a:p>
            <a:pPr marL="0" indent="0" algn="l">
              <a:lnSpc>
                <a:spcPct val="125000"/>
              </a:lnSpc>
              <a:buNone/>
            </a:pPr>
            <a:r>
              <a:rPr lang="en-US" sz="1000" dirty="0">
                <a:solidFill>
                  <a:srgbClr val="1C1A17"/>
                </a:solidFill>
                <a:latin typeface="Crimson Text" pitchFamily="34" charset="0"/>
                <a:ea typeface="Crimson Text" pitchFamily="34" charset="-122"/>
                <a:cs typeface="Crimson Text" pitchFamily="34" charset="-120"/>
              </a:rPr>
              <a:t>Limitations of Government Intervention</a:t>
            </a:r>
            <a:endParaRPr lang="en-US" sz="1000" dirty="0"/>
          </a:p>
        </p:txBody>
      </p:sp>
      <p:sp>
        <p:nvSpPr>
          <p:cNvPr id="11" name="Rectangle 10">
            <a:extLst>
              <a:ext uri="{FF2B5EF4-FFF2-40B4-BE49-F238E27FC236}">
                <a16:creationId xmlns:a16="http://schemas.microsoft.com/office/drawing/2014/main" id="{7500C404-ED1A-2213-9C28-5FBF40F09591}"/>
              </a:ext>
            </a:extLst>
          </p:cNvPr>
          <p:cNvSpPr/>
          <p:nvPr/>
        </p:nvSpPr>
        <p:spPr>
          <a:xfrm>
            <a:off x="10917044" y="6490010"/>
            <a:ext cx="1274651" cy="367990"/>
          </a:xfrm>
          <a:prstGeom prst="rect">
            <a:avLst/>
          </a:prstGeom>
          <a:solidFill>
            <a:srgbClr val="FE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917873"/>
            <a:ext cx="7518212"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87552F"/>
                </a:solidFill>
                <a:latin typeface="Federo" pitchFamily="34" charset="0"/>
                <a:ea typeface="Federo" pitchFamily="34" charset="-122"/>
                <a:cs typeface="Federo" pitchFamily="34" charset="-120"/>
              </a:rPr>
              <a:t>PRICE DISTORTIONS · HYPOTHETICAL WHEAT EXAMPLE</a:t>
            </a:r>
            <a:endParaRPr lang="en-US" sz="1050" dirty="0"/>
          </a:p>
        </p:txBody>
      </p:sp>
      <p:sp>
        <p:nvSpPr>
          <p:cNvPr id="3" name="Text 1"/>
          <p:cNvSpPr/>
          <p:nvPr/>
        </p:nvSpPr>
        <p:spPr>
          <a:xfrm>
            <a:off x="609585" y="1227092"/>
            <a:ext cx="7061023" cy="446980"/>
          </a:xfrm>
          <a:prstGeom prst="rect">
            <a:avLst/>
          </a:prstGeom>
          <a:noFill/>
          <a:ln/>
        </p:spPr>
        <p:txBody>
          <a:bodyPr wrap="none" lIns="0" tIns="0" rIns="0" bIns="0" rtlCol="0" anchor="t"/>
          <a:lstStyle/>
          <a:p>
            <a:pPr marL="0" indent="0" algn="l">
              <a:lnSpc>
                <a:spcPct val="92000"/>
              </a:lnSpc>
              <a:buNone/>
            </a:pPr>
            <a:r>
              <a:rPr lang="en-US" sz="3200" dirty="0">
                <a:solidFill>
                  <a:srgbClr val="000000"/>
                </a:solidFill>
                <a:latin typeface="Federo" pitchFamily="34" charset="0"/>
                <a:ea typeface="Federo" pitchFamily="34" charset="-122"/>
                <a:cs typeface="Federo" pitchFamily="34" charset="-120"/>
              </a:rPr>
              <a:t>When a lower price weakens the signal</a:t>
            </a:r>
            <a:endParaRPr lang="en-US" sz="3200" dirty="0"/>
          </a:p>
        </p:txBody>
      </p:sp>
      <p:sp>
        <p:nvSpPr>
          <p:cNvPr id="4" name="Shape 2"/>
          <p:cNvSpPr/>
          <p:nvPr/>
        </p:nvSpPr>
        <p:spPr>
          <a:xfrm>
            <a:off x="609585" y="1882378"/>
            <a:ext cx="3454314" cy="1485900"/>
          </a:xfrm>
          <a:prstGeom prst="rect">
            <a:avLst/>
          </a:prstGeom>
          <a:solidFill>
            <a:srgbClr val="0A192F"/>
          </a:solidFill>
          <a:ln/>
        </p:spPr>
      </p:sp>
      <p:sp>
        <p:nvSpPr>
          <p:cNvPr id="5" name="Text 3"/>
          <p:cNvSpPr/>
          <p:nvPr/>
        </p:nvSpPr>
        <p:spPr>
          <a:xfrm>
            <a:off x="838179" y="2110978"/>
            <a:ext cx="3225719"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FFFFFF"/>
                </a:solidFill>
                <a:latin typeface="Federo" pitchFamily="34" charset="0"/>
                <a:ea typeface="Federo" pitchFamily="34" charset="-122"/>
                <a:cs typeface="Federo" pitchFamily="34" charset="-120"/>
              </a:rPr>
              <a:t>MARKET PRICE</a:t>
            </a:r>
            <a:endParaRPr lang="en-US" sz="1050" dirty="0"/>
          </a:p>
        </p:txBody>
      </p:sp>
      <p:sp>
        <p:nvSpPr>
          <p:cNvPr id="6" name="Text 4"/>
          <p:cNvSpPr/>
          <p:nvPr/>
        </p:nvSpPr>
        <p:spPr>
          <a:xfrm>
            <a:off x="838179" y="2461816"/>
            <a:ext cx="2997125" cy="736600"/>
          </a:xfrm>
          <a:prstGeom prst="rect">
            <a:avLst/>
          </a:prstGeom>
          <a:noFill/>
          <a:ln/>
        </p:spPr>
        <p:txBody>
          <a:bodyPr wrap="none" lIns="0" tIns="0" rIns="0" bIns="0" rtlCol="0" anchor="t"/>
          <a:lstStyle/>
          <a:p>
            <a:pPr marL="0" indent="0" algn="l">
              <a:lnSpc>
                <a:spcPct val="83000"/>
              </a:lnSpc>
              <a:buNone/>
            </a:pPr>
            <a:r>
              <a:rPr lang="en-US" sz="5800" dirty="0">
                <a:solidFill>
                  <a:srgbClr val="FFFFFF"/>
                </a:solidFill>
                <a:latin typeface="Federo" pitchFamily="34" charset="0"/>
                <a:ea typeface="Federo" pitchFamily="34" charset="-122"/>
                <a:cs typeface="Federo" pitchFamily="34" charset="-120"/>
              </a:rPr>
              <a:t>₹30</a:t>
            </a:r>
            <a:r>
              <a:rPr lang="en-US" sz="2200" dirty="0">
                <a:solidFill>
                  <a:srgbClr val="FFFFFF"/>
                </a:solidFill>
                <a:latin typeface="Federo" pitchFamily="34" charset="0"/>
                <a:ea typeface="Federo" pitchFamily="34" charset="-122"/>
                <a:cs typeface="Federo" pitchFamily="34" charset="-120"/>
              </a:rPr>
              <a:t>/kg</a:t>
            </a:r>
            <a:endParaRPr lang="en-US" sz="5800" dirty="0"/>
          </a:p>
        </p:txBody>
      </p:sp>
      <p:sp>
        <p:nvSpPr>
          <p:cNvPr id="7" name="Shape 5"/>
          <p:cNvSpPr/>
          <p:nvPr/>
        </p:nvSpPr>
        <p:spPr>
          <a:xfrm>
            <a:off x="4216295" y="1882378"/>
            <a:ext cx="3454314" cy="1485900"/>
          </a:xfrm>
          <a:prstGeom prst="rect">
            <a:avLst/>
          </a:prstGeom>
          <a:solidFill>
            <a:srgbClr val="0E4D3E"/>
          </a:solidFill>
          <a:ln/>
        </p:spPr>
      </p:sp>
      <p:sp>
        <p:nvSpPr>
          <p:cNvPr id="8" name="Text 6"/>
          <p:cNvSpPr/>
          <p:nvPr/>
        </p:nvSpPr>
        <p:spPr>
          <a:xfrm>
            <a:off x="4444889" y="2110978"/>
            <a:ext cx="3225719"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FFFFFF"/>
                </a:solidFill>
                <a:latin typeface="Federo" pitchFamily="34" charset="0"/>
                <a:ea typeface="Federo" pitchFamily="34" charset="-122"/>
                <a:cs typeface="Federo" pitchFamily="34" charset="-120"/>
              </a:rPr>
              <a:t>CONTROLLED MAXIMUM</a:t>
            </a:r>
            <a:endParaRPr lang="en-US" sz="1050" dirty="0"/>
          </a:p>
        </p:txBody>
      </p:sp>
      <p:sp>
        <p:nvSpPr>
          <p:cNvPr id="9" name="Text 7"/>
          <p:cNvSpPr/>
          <p:nvPr/>
        </p:nvSpPr>
        <p:spPr>
          <a:xfrm>
            <a:off x="4444889" y="2461816"/>
            <a:ext cx="2997125" cy="736600"/>
          </a:xfrm>
          <a:prstGeom prst="rect">
            <a:avLst/>
          </a:prstGeom>
          <a:noFill/>
          <a:ln/>
        </p:spPr>
        <p:txBody>
          <a:bodyPr wrap="none" lIns="0" tIns="0" rIns="0" bIns="0" rtlCol="0" anchor="t"/>
          <a:lstStyle/>
          <a:p>
            <a:pPr marL="0" indent="0" algn="l">
              <a:lnSpc>
                <a:spcPct val="83000"/>
              </a:lnSpc>
              <a:buNone/>
            </a:pPr>
            <a:r>
              <a:rPr lang="en-US" sz="5800" dirty="0">
                <a:solidFill>
                  <a:srgbClr val="FFFFFF"/>
                </a:solidFill>
                <a:latin typeface="Federo" pitchFamily="34" charset="0"/>
                <a:ea typeface="Federo" pitchFamily="34" charset="-122"/>
                <a:cs typeface="Federo" pitchFamily="34" charset="-120"/>
              </a:rPr>
              <a:t>₹20</a:t>
            </a:r>
            <a:r>
              <a:rPr lang="en-US" sz="2200" dirty="0">
                <a:solidFill>
                  <a:srgbClr val="FFFFFF"/>
                </a:solidFill>
                <a:latin typeface="Federo" pitchFamily="34" charset="0"/>
                <a:ea typeface="Federo" pitchFamily="34" charset="-122"/>
                <a:cs typeface="Federo" pitchFamily="34" charset="-120"/>
              </a:rPr>
              <a:t>/kg</a:t>
            </a:r>
            <a:endParaRPr lang="en-US" sz="5800" dirty="0"/>
          </a:p>
        </p:txBody>
      </p:sp>
      <p:sp>
        <p:nvSpPr>
          <p:cNvPr id="10" name="Text 8"/>
          <p:cNvSpPr/>
          <p:nvPr/>
        </p:nvSpPr>
        <p:spPr>
          <a:xfrm>
            <a:off x="609585" y="3571478"/>
            <a:ext cx="7061023" cy="1231900"/>
          </a:xfrm>
          <a:prstGeom prst="rect">
            <a:avLst/>
          </a:prstGeom>
          <a:noFill/>
          <a:ln/>
        </p:spPr>
        <p:txBody>
          <a:bodyPr wrap="square" lIns="0" tIns="0" rIns="0" bIns="0" rtlCol="0" anchor="t"/>
          <a:lstStyle/>
          <a:p>
            <a:pPr marL="0" indent="0" algn="l">
              <a:lnSpc>
                <a:spcPct val="125000"/>
              </a:lnSpc>
              <a:spcAft>
                <a:spcPts val="1550"/>
              </a:spcAft>
              <a:buNone/>
            </a:pPr>
            <a:r>
              <a:rPr lang="en-US" sz="1800" dirty="0">
                <a:solidFill>
                  <a:srgbClr val="AF2F1D"/>
                </a:solidFill>
                <a:latin typeface="Crimson Text" pitchFamily="34" charset="0"/>
                <a:ea typeface="Crimson Text" pitchFamily="34" charset="-122"/>
                <a:cs typeface="Crimson Text" pitchFamily="34" charset="-120"/>
              </a:rPr>
              <a:t>₹10/kg difference</a:t>
            </a:r>
            <a:endParaRPr lang="en-US" sz="1800" dirty="0"/>
          </a:p>
          <a:p>
            <a:pPr marL="0" indent="0" algn="l">
              <a:lnSpc>
                <a:spcPct val="125000"/>
              </a:lnSpc>
              <a:buNone/>
            </a:pPr>
            <a:r>
              <a:rPr lang="en-US" sz="1800" dirty="0">
                <a:solidFill>
                  <a:srgbClr val="1C1A17"/>
                </a:solidFill>
                <a:latin typeface="Crimson Text" pitchFamily="34" charset="0"/>
                <a:ea typeface="Crimson Text" pitchFamily="34" charset="-122"/>
                <a:cs typeface="Crimson Text" pitchFamily="34" charset="-120"/>
              </a:rPr>
              <a:t>Below equilibrium, buyers may want more wheat while sellers offer less. Lower permitted revenue can weaken supply incentives.</a:t>
            </a:r>
            <a:endParaRPr lang="en-US" sz="1800" dirty="0"/>
          </a:p>
        </p:txBody>
      </p:sp>
      <p:sp>
        <p:nvSpPr>
          <p:cNvPr id="11" name="Shape 9"/>
          <p:cNvSpPr/>
          <p:nvPr/>
        </p:nvSpPr>
        <p:spPr>
          <a:xfrm>
            <a:off x="609585" y="5051028"/>
            <a:ext cx="2329995" cy="19050"/>
          </a:xfrm>
          <a:prstGeom prst="roundRect">
            <a:avLst>
              <a:gd name="adj" fmla="val 49999"/>
            </a:avLst>
          </a:prstGeom>
          <a:solidFill>
            <a:srgbClr val="D4AF37"/>
          </a:solidFill>
          <a:ln/>
        </p:spPr>
      </p:sp>
      <p:sp>
        <p:nvSpPr>
          <p:cNvPr id="12" name="Text 10"/>
          <p:cNvSpPr/>
          <p:nvPr/>
        </p:nvSpPr>
        <p:spPr>
          <a:xfrm>
            <a:off x="609585" y="5317728"/>
            <a:ext cx="7061023" cy="647700"/>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1C1A17"/>
                </a:solidFill>
                <a:latin typeface="Crimson Text" pitchFamily="34" charset="0"/>
                <a:ea typeface="Crimson Text" pitchFamily="34" charset="-122"/>
                <a:cs typeface="Crimson Text" pitchFamily="34" charset="-120"/>
              </a:rPr>
              <a:t>Possible result: excess demand and shortages. Costs, demand, and complementary policies affect the outcome.</a:t>
            </a:r>
            <a:endParaRPr lang="en-US" sz="1700" dirty="0"/>
          </a:p>
        </p:txBody>
      </p:sp>
      <p:sp>
        <p:nvSpPr>
          <p:cNvPr id="14" name="Text 11"/>
          <p:cNvSpPr/>
          <p:nvPr/>
        </p:nvSpPr>
        <p:spPr>
          <a:xfrm>
            <a:off x="177895" y="135235"/>
            <a:ext cx="2606312" cy="186630"/>
          </a:xfrm>
          <a:prstGeom prst="rect">
            <a:avLst/>
          </a:prstGeom>
          <a:noFill/>
          <a:ln/>
        </p:spPr>
        <p:txBody>
          <a:bodyPr wrap="none" lIns="0" tIns="0" rIns="0" bIns="0" rtlCol="0" anchor="ctr"/>
          <a:lstStyle/>
          <a:p>
            <a:pPr marL="0" indent="0" algn="l">
              <a:lnSpc>
                <a:spcPct val="125000"/>
              </a:lnSpc>
              <a:buNone/>
            </a:pPr>
            <a:r>
              <a:rPr lang="en-US" sz="1000" dirty="0">
                <a:solidFill>
                  <a:srgbClr val="1C1A17"/>
                </a:solidFill>
                <a:latin typeface="Crimson Text" pitchFamily="34" charset="0"/>
                <a:ea typeface="Crimson Text" pitchFamily="34" charset="-122"/>
                <a:cs typeface="Crimson Text" pitchFamily="34" charset="-120"/>
              </a:rPr>
              <a:t>Limitations of Government Intervention</a:t>
            </a:r>
            <a:endParaRPr lang="en-US" sz="1000" dirty="0"/>
          </a:p>
        </p:txBody>
      </p:sp>
      <p:sp>
        <p:nvSpPr>
          <p:cNvPr id="15" name="Text 12"/>
          <p:cNvSpPr/>
          <p:nvPr/>
        </p:nvSpPr>
        <p:spPr>
          <a:xfrm>
            <a:off x="177895" y="6536035"/>
            <a:ext cx="2315013" cy="186630"/>
          </a:xfrm>
          <a:prstGeom prst="rect">
            <a:avLst/>
          </a:prstGeom>
          <a:noFill/>
          <a:ln/>
        </p:spPr>
        <p:txBody>
          <a:bodyPr wrap="none" lIns="0" tIns="0" rIns="0" bIns="0" rtlCol="0" anchor="ctr"/>
          <a:lstStyle/>
          <a:p>
            <a:pPr marL="0" indent="0" algn="l">
              <a:lnSpc>
                <a:spcPct val="125000"/>
              </a:lnSpc>
              <a:buNone/>
            </a:pPr>
            <a:r>
              <a:rPr lang="en-US" sz="1000" dirty="0">
                <a:solidFill>
                  <a:srgbClr val="1C1A17"/>
                </a:solidFill>
                <a:latin typeface="Crimson Text" pitchFamily="34" charset="0"/>
                <a:ea typeface="Crimson Text" pitchFamily="34" charset="-122"/>
                <a:cs typeface="Crimson Text" pitchFamily="34" charset="-120"/>
              </a:rPr>
              <a:t>Economics Presentation · Grade IX</a:t>
            </a:r>
            <a:endParaRPr lang="en-US" sz="1000" dirty="0"/>
          </a:p>
        </p:txBody>
      </p:sp>
      <p:sp>
        <p:nvSpPr>
          <p:cNvPr id="16" name="Rectangle 15">
            <a:extLst>
              <a:ext uri="{FF2B5EF4-FFF2-40B4-BE49-F238E27FC236}">
                <a16:creationId xmlns:a16="http://schemas.microsoft.com/office/drawing/2014/main" id="{BA9533DB-EAB0-702A-4D79-CB358C4EA9CD}"/>
              </a:ext>
            </a:extLst>
          </p:cNvPr>
          <p:cNvSpPr/>
          <p:nvPr/>
        </p:nvSpPr>
        <p:spPr>
          <a:xfrm>
            <a:off x="10917044" y="6490010"/>
            <a:ext cx="1274651" cy="367990"/>
          </a:xfrm>
          <a:prstGeom prst="rect">
            <a:avLst/>
          </a:prstGeom>
          <a:solidFill>
            <a:srgbClr val="FE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 0" descr="preencoded.png"/>
          <p:cNvPicPr>
            <a:picLocks noChangeAspect="1"/>
          </p:cNvPicPr>
          <p:nvPr/>
        </p:nvPicPr>
        <p:blipFill>
          <a:blip r:embed="rId3"/>
          <a:stretch>
            <a:fillRect/>
          </a:stretch>
        </p:blipFill>
        <p:spPr>
          <a:xfrm>
            <a:off x="8128102" y="-14844"/>
            <a:ext cx="4063898" cy="6858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063898" cy="6858000"/>
          </a:xfrm>
          <a:prstGeom prst="rect">
            <a:avLst/>
          </a:prstGeom>
        </p:spPr>
      </p:pic>
      <p:sp>
        <p:nvSpPr>
          <p:cNvPr id="3" name="Text 0"/>
          <p:cNvSpPr/>
          <p:nvPr/>
        </p:nvSpPr>
        <p:spPr>
          <a:xfrm>
            <a:off x="4521087" y="533400"/>
            <a:ext cx="7670608"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87552F"/>
                </a:solidFill>
                <a:latin typeface="Federo" pitchFamily="34" charset="0"/>
                <a:ea typeface="Federo" pitchFamily="34" charset="-122"/>
                <a:cs typeface="Federo" pitchFamily="34" charset="-120"/>
              </a:rPr>
              <a:t>COMPLIANCE BURDENS</a:t>
            </a:r>
            <a:endParaRPr lang="en-US" sz="1050" dirty="0"/>
          </a:p>
        </p:txBody>
      </p:sp>
      <p:sp>
        <p:nvSpPr>
          <p:cNvPr id="4" name="Text 1"/>
          <p:cNvSpPr/>
          <p:nvPr/>
        </p:nvSpPr>
        <p:spPr>
          <a:xfrm>
            <a:off x="4521087" y="842620"/>
            <a:ext cx="7061023"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dirty="0">
                <a:solidFill>
                  <a:srgbClr val="000000"/>
                </a:solidFill>
                <a:latin typeface="Federo" pitchFamily="34" charset="0"/>
                <a:ea typeface="Federo" pitchFamily="34" charset="-122"/>
                <a:cs typeface="Federo" pitchFamily="34" charset="-120"/>
              </a:rPr>
              <a:t>When paperwork becomes a barrier to progress</a:t>
            </a:r>
            <a:endParaRPr lang="en-US" sz="3200" dirty="0"/>
          </a:p>
        </p:txBody>
      </p:sp>
      <p:sp>
        <p:nvSpPr>
          <p:cNvPr id="5" name="Text 2"/>
          <p:cNvSpPr/>
          <p:nvPr/>
        </p:nvSpPr>
        <p:spPr>
          <a:xfrm>
            <a:off x="4521087" y="1944886"/>
            <a:ext cx="7061023"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C1A17"/>
                </a:solidFill>
                <a:latin typeface="Crimson Text" pitchFamily="34" charset="0"/>
                <a:ea typeface="Crimson Text" pitchFamily="34" charset="-122"/>
                <a:cs typeface="Crimson Text" pitchFamily="34" charset="-120"/>
              </a:rPr>
              <a:t>Regulation protects food safety, fire prevention, workers, and the environment.</a:t>
            </a:r>
            <a:endParaRPr lang="en-US" sz="1800" dirty="0"/>
          </a:p>
        </p:txBody>
      </p:sp>
      <p:sp>
        <p:nvSpPr>
          <p:cNvPr id="6" name="Text 3"/>
          <p:cNvSpPr/>
          <p:nvPr/>
        </p:nvSpPr>
        <p:spPr>
          <a:xfrm>
            <a:off x="4521087" y="2833886"/>
            <a:ext cx="763271"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01</a:t>
            </a:r>
            <a:endParaRPr lang="en-US" sz="1400" dirty="0"/>
          </a:p>
        </p:txBody>
      </p:sp>
      <p:sp>
        <p:nvSpPr>
          <p:cNvPr id="7" name="Shape 4"/>
          <p:cNvSpPr/>
          <p:nvPr/>
        </p:nvSpPr>
        <p:spPr>
          <a:xfrm>
            <a:off x="4521087" y="3082826"/>
            <a:ext cx="2150413" cy="19050"/>
          </a:xfrm>
          <a:prstGeom prst="rect">
            <a:avLst/>
          </a:prstGeom>
          <a:solidFill>
            <a:srgbClr val="0A192F"/>
          </a:solidFill>
          <a:ln/>
        </p:spPr>
      </p:sp>
      <p:sp>
        <p:nvSpPr>
          <p:cNvPr id="8" name="Text 5"/>
          <p:cNvSpPr/>
          <p:nvPr/>
        </p:nvSpPr>
        <p:spPr>
          <a:xfrm>
            <a:off x="4521087" y="3215839"/>
            <a:ext cx="2150413"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Complex procedures</a:t>
            </a:r>
            <a:endParaRPr lang="en-US" sz="1700" dirty="0"/>
          </a:p>
        </p:txBody>
      </p:sp>
      <p:sp>
        <p:nvSpPr>
          <p:cNvPr id="9" name="Text 6"/>
          <p:cNvSpPr/>
          <p:nvPr/>
        </p:nvSpPr>
        <p:spPr>
          <a:xfrm>
            <a:off x="4521087" y="3607891"/>
            <a:ext cx="2150413"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1C1A17"/>
                </a:solidFill>
                <a:latin typeface="Crimson Text" pitchFamily="34" charset="0"/>
                <a:ea typeface="Crimson Text" pitchFamily="34" charset="-122"/>
                <a:cs typeface="Crimson Text" pitchFamily="34" charset="-120"/>
              </a:rPr>
              <a:t>More time and administrative costs</a:t>
            </a:r>
            <a:endParaRPr lang="en-US" sz="1600" dirty="0"/>
          </a:p>
        </p:txBody>
      </p:sp>
      <p:sp>
        <p:nvSpPr>
          <p:cNvPr id="10" name="Text 7"/>
          <p:cNvSpPr/>
          <p:nvPr/>
        </p:nvSpPr>
        <p:spPr>
          <a:xfrm>
            <a:off x="6976293" y="2833886"/>
            <a:ext cx="784999"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02</a:t>
            </a:r>
            <a:endParaRPr lang="en-US" sz="1400" dirty="0"/>
          </a:p>
        </p:txBody>
      </p:sp>
      <p:sp>
        <p:nvSpPr>
          <p:cNvPr id="11" name="Shape 8"/>
          <p:cNvSpPr/>
          <p:nvPr/>
        </p:nvSpPr>
        <p:spPr>
          <a:xfrm>
            <a:off x="6976293" y="3082826"/>
            <a:ext cx="2150413" cy="19050"/>
          </a:xfrm>
          <a:prstGeom prst="rect">
            <a:avLst/>
          </a:prstGeom>
          <a:solidFill>
            <a:srgbClr val="0A192F"/>
          </a:solidFill>
          <a:ln/>
        </p:spPr>
      </p:sp>
      <p:sp>
        <p:nvSpPr>
          <p:cNvPr id="12" name="Text 9"/>
          <p:cNvSpPr/>
          <p:nvPr/>
        </p:nvSpPr>
        <p:spPr>
          <a:xfrm>
            <a:off x="6976293" y="3215839"/>
            <a:ext cx="2150513"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Higher burden</a:t>
            </a:r>
            <a:endParaRPr lang="en-US" sz="1700" dirty="0"/>
          </a:p>
        </p:txBody>
      </p:sp>
      <p:sp>
        <p:nvSpPr>
          <p:cNvPr id="13" name="Text 10"/>
          <p:cNvSpPr/>
          <p:nvPr/>
        </p:nvSpPr>
        <p:spPr>
          <a:xfrm>
            <a:off x="6976293" y="3607891"/>
            <a:ext cx="2150513"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1C1A17"/>
                </a:solidFill>
                <a:latin typeface="Crimson Text" pitchFamily="34" charset="0"/>
                <a:ea typeface="Crimson Text" pitchFamily="34" charset="-122"/>
                <a:cs typeface="Crimson Text" pitchFamily="34" charset="-120"/>
              </a:rPr>
              <a:t>Small firms can be hit harder</a:t>
            </a:r>
            <a:endParaRPr lang="en-US" sz="1600" dirty="0"/>
          </a:p>
        </p:txBody>
      </p:sp>
      <p:sp>
        <p:nvSpPr>
          <p:cNvPr id="14" name="Text 11"/>
          <p:cNvSpPr/>
          <p:nvPr/>
        </p:nvSpPr>
        <p:spPr>
          <a:xfrm>
            <a:off x="9431598" y="2833886"/>
            <a:ext cx="784999"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03</a:t>
            </a:r>
            <a:endParaRPr lang="en-US" sz="1400" dirty="0"/>
          </a:p>
        </p:txBody>
      </p:sp>
      <p:sp>
        <p:nvSpPr>
          <p:cNvPr id="15" name="Shape 12"/>
          <p:cNvSpPr/>
          <p:nvPr/>
        </p:nvSpPr>
        <p:spPr>
          <a:xfrm>
            <a:off x="9431598" y="3082826"/>
            <a:ext cx="2150413" cy="19050"/>
          </a:xfrm>
          <a:prstGeom prst="rect">
            <a:avLst/>
          </a:prstGeom>
          <a:solidFill>
            <a:srgbClr val="0A192F"/>
          </a:solidFill>
          <a:ln/>
        </p:spPr>
      </p:sp>
      <p:sp>
        <p:nvSpPr>
          <p:cNvPr id="16" name="Text 13"/>
          <p:cNvSpPr/>
          <p:nvPr/>
        </p:nvSpPr>
        <p:spPr>
          <a:xfrm>
            <a:off x="9431598" y="3215839"/>
            <a:ext cx="2150413"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Possible delays</a:t>
            </a:r>
            <a:endParaRPr lang="en-US" sz="1700" dirty="0"/>
          </a:p>
        </p:txBody>
      </p:sp>
      <p:sp>
        <p:nvSpPr>
          <p:cNvPr id="17" name="Text 14"/>
          <p:cNvSpPr/>
          <p:nvPr/>
        </p:nvSpPr>
        <p:spPr>
          <a:xfrm>
            <a:off x="9431598" y="3607891"/>
            <a:ext cx="2150413"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1C1A17"/>
                </a:solidFill>
                <a:latin typeface="Crimson Text" pitchFamily="34" charset="0"/>
                <a:ea typeface="Crimson Text" pitchFamily="34" charset="-122"/>
                <a:cs typeface="Crimson Text" pitchFamily="34" charset="-120"/>
              </a:rPr>
              <a:t>Opening or expansion slows</a:t>
            </a:r>
            <a:endParaRPr lang="en-US" sz="1600" dirty="0"/>
          </a:p>
        </p:txBody>
      </p:sp>
      <p:sp>
        <p:nvSpPr>
          <p:cNvPr id="18" name="Shape 15"/>
          <p:cNvSpPr/>
          <p:nvPr/>
        </p:nvSpPr>
        <p:spPr>
          <a:xfrm>
            <a:off x="4521087" y="5397500"/>
            <a:ext cx="2329995" cy="19050"/>
          </a:xfrm>
          <a:prstGeom prst="roundRect">
            <a:avLst>
              <a:gd name="adj" fmla="val 49999"/>
            </a:avLst>
          </a:prstGeom>
          <a:solidFill>
            <a:srgbClr val="D4AF37"/>
          </a:solidFill>
          <a:ln/>
        </p:spPr>
      </p:sp>
      <p:sp>
        <p:nvSpPr>
          <p:cNvPr id="19" name="Text 16"/>
          <p:cNvSpPr/>
          <p:nvPr/>
        </p:nvSpPr>
        <p:spPr>
          <a:xfrm>
            <a:off x="4521087" y="5664200"/>
            <a:ext cx="7061023"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C1A17"/>
                </a:solidFill>
                <a:latin typeface="Crimson Text" pitchFamily="34" charset="0"/>
                <a:ea typeface="Crimson Text" pitchFamily="34" charset="-122"/>
                <a:cs typeface="Crimson Text" pitchFamily="34" charset="-120"/>
              </a:rPr>
              <a:t>The issue is excessive complexity and disproportionate cost, rather than regulation itself.</a:t>
            </a:r>
            <a:endParaRPr lang="en-US" sz="1800" dirty="0"/>
          </a:p>
        </p:txBody>
      </p:sp>
      <p:sp>
        <p:nvSpPr>
          <p:cNvPr id="20" name="Text 17"/>
          <p:cNvSpPr/>
          <p:nvPr/>
        </p:nvSpPr>
        <p:spPr>
          <a:xfrm>
            <a:off x="10017172" y="135235"/>
            <a:ext cx="2174523" cy="186630"/>
          </a:xfrm>
          <a:prstGeom prst="rect">
            <a:avLst/>
          </a:prstGeom>
          <a:noFill/>
          <a:ln/>
        </p:spPr>
        <p:txBody>
          <a:bodyPr wrap="none" lIns="0" tIns="0" rIns="0" bIns="0" rtlCol="0" anchor="ctr"/>
          <a:lstStyle/>
          <a:p>
            <a:pPr marL="0" indent="0" algn="l">
              <a:lnSpc>
                <a:spcPct val="125000"/>
              </a:lnSpc>
              <a:buNone/>
            </a:pPr>
            <a:r>
              <a:rPr lang="en-US" sz="1000" dirty="0">
                <a:solidFill>
                  <a:srgbClr val="1C1A17"/>
                </a:solidFill>
                <a:latin typeface="Crimson Text" pitchFamily="34" charset="0"/>
                <a:ea typeface="Crimson Text" pitchFamily="34" charset="-122"/>
                <a:cs typeface="Crimson Text" pitchFamily="34" charset="-120"/>
              </a:rPr>
              <a:t>Limitations of Government Intervention</a:t>
            </a:r>
            <a:endParaRPr lang="en-US" sz="1000" dirty="0"/>
          </a:p>
        </p:txBody>
      </p:sp>
      <p:sp>
        <p:nvSpPr>
          <p:cNvPr id="21" name="Text 18"/>
          <p:cNvSpPr/>
          <p:nvPr/>
        </p:nvSpPr>
        <p:spPr>
          <a:xfrm>
            <a:off x="10308471" y="6536035"/>
            <a:ext cx="1883224" cy="186630"/>
          </a:xfrm>
          <a:prstGeom prst="rect">
            <a:avLst/>
          </a:prstGeom>
          <a:noFill/>
          <a:ln/>
        </p:spPr>
        <p:txBody>
          <a:bodyPr wrap="none" lIns="0" tIns="0" rIns="0" bIns="0" rtlCol="0" anchor="ctr"/>
          <a:lstStyle/>
          <a:p>
            <a:pPr marL="0" indent="0" algn="l">
              <a:lnSpc>
                <a:spcPct val="125000"/>
              </a:lnSpc>
              <a:buNone/>
            </a:pPr>
            <a:endParaRPr lang="en-US" sz="1000" dirty="0"/>
          </a:p>
        </p:txBody>
      </p:sp>
      <p:sp>
        <p:nvSpPr>
          <p:cNvPr id="22" name="Rectangle 21">
            <a:extLst>
              <a:ext uri="{FF2B5EF4-FFF2-40B4-BE49-F238E27FC236}">
                <a16:creationId xmlns:a16="http://schemas.microsoft.com/office/drawing/2014/main" id="{A082C8A2-E54C-EB8F-EDA4-E3877AF2267B}"/>
              </a:ext>
            </a:extLst>
          </p:cNvPr>
          <p:cNvSpPr/>
          <p:nvPr/>
        </p:nvSpPr>
        <p:spPr>
          <a:xfrm>
            <a:off x="10917044" y="6490010"/>
            <a:ext cx="1274651" cy="367990"/>
          </a:xfrm>
          <a:prstGeom prst="rect">
            <a:avLst/>
          </a:prstGeom>
          <a:solidFill>
            <a:srgbClr val="FE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853480"/>
            <a:ext cx="11582110"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87552F"/>
                </a:solidFill>
                <a:latin typeface="Federo" pitchFamily="34" charset="0"/>
                <a:ea typeface="Federo" pitchFamily="34" charset="-122"/>
                <a:cs typeface="Federo" pitchFamily="34" charset="-120"/>
              </a:rPr>
              <a:t>INVESTMENT AND INNOVATION</a:t>
            </a:r>
            <a:endParaRPr lang="en-US" sz="1050" dirty="0"/>
          </a:p>
        </p:txBody>
      </p:sp>
      <p:sp>
        <p:nvSpPr>
          <p:cNvPr id="3" name="Text 1"/>
          <p:cNvSpPr/>
          <p:nvPr/>
        </p:nvSpPr>
        <p:spPr>
          <a:xfrm>
            <a:off x="609585" y="1162700"/>
            <a:ext cx="10972526" cy="446980"/>
          </a:xfrm>
          <a:prstGeom prst="rect">
            <a:avLst/>
          </a:prstGeom>
          <a:noFill/>
          <a:ln/>
        </p:spPr>
        <p:txBody>
          <a:bodyPr wrap="none" lIns="0" tIns="0" rIns="0" bIns="0" rtlCol="0" anchor="t"/>
          <a:lstStyle/>
          <a:p>
            <a:pPr marL="0" indent="0" algn="l">
              <a:lnSpc>
                <a:spcPct val="92000"/>
              </a:lnSpc>
              <a:buNone/>
            </a:pPr>
            <a:r>
              <a:rPr lang="en-US" sz="3200" dirty="0">
                <a:solidFill>
                  <a:srgbClr val="000000"/>
                </a:solidFill>
                <a:latin typeface="Federo" pitchFamily="34" charset="0"/>
                <a:ea typeface="Federo" pitchFamily="34" charset="-122"/>
                <a:cs typeface="Federo" pitchFamily="34" charset="-120"/>
              </a:rPr>
              <a:t>When the future becomes too expensive to build</a:t>
            </a:r>
            <a:endParaRPr lang="en-US" sz="3200" dirty="0"/>
          </a:p>
        </p:txBody>
      </p:sp>
      <p:pic>
        <p:nvPicPr>
          <p:cNvPr id="4" name="Image 0" descr="preencoded.png"/>
          <p:cNvPicPr>
            <a:picLocks noChangeAspect="1"/>
          </p:cNvPicPr>
          <p:nvPr/>
        </p:nvPicPr>
        <p:blipFill>
          <a:blip r:embed="rId3"/>
          <a:stretch>
            <a:fillRect/>
          </a:stretch>
        </p:blipFill>
        <p:spPr>
          <a:xfrm>
            <a:off x="609585" y="1805577"/>
            <a:ext cx="5333867" cy="1917408"/>
          </a:xfrm>
          <a:prstGeom prst="rect">
            <a:avLst/>
          </a:prstGeom>
        </p:spPr>
      </p:pic>
      <p:sp>
        <p:nvSpPr>
          <p:cNvPr id="5" name="Text 2"/>
          <p:cNvSpPr/>
          <p:nvPr/>
        </p:nvSpPr>
        <p:spPr>
          <a:xfrm>
            <a:off x="609585" y="3900785"/>
            <a:ext cx="5333867" cy="200025"/>
          </a:xfrm>
          <a:prstGeom prst="rect">
            <a:avLst/>
          </a:prstGeom>
          <a:noFill/>
          <a:ln/>
        </p:spPr>
        <p:txBody>
          <a:bodyPr wrap="none" lIns="0" tIns="0" rIns="0" bIns="0" rtlCol="0" anchor="t"/>
          <a:lstStyle/>
          <a:p>
            <a:pPr marL="0" indent="0" algn="l">
              <a:lnSpc>
                <a:spcPct val="125000"/>
              </a:lnSpc>
              <a:buNone/>
            </a:pPr>
            <a:r>
              <a:rPr lang="en-US" sz="1050" dirty="0">
                <a:solidFill>
                  <a:srgbClr val="1C1A17"/>
                </a:solidFill>
                <a:latin typeface="Crimson Text" pitchFamily="34" charset="0"/>
                <a:ea typeface="Crimson Text" pitchFamily="34" charset="-122"/>
                <a:cs typeface="Crimson Text" pitchFamily="34" charset="-120"/>
              </a:rPr>
              <a:t>Traditional techniques</a:t>
            </a:r>
            <a:endParaRPr lang="en-US" sz="1050" dirty="0"/>
          </a:p>
        </p:txBody>
      </p:sp>
      <p:pic>
        <p:nvPicPr>
          <p:cNvPr id="6" name="Image 1" descr="preencoded.png"/>
          <p:cNvPicPr>
            <a:picLocks noChangeAspect="1"/>
          </p:cNvPicPr>
          <p:nvPr/>
        </p:nvPicPr>
        <p:blipFill>
          <a:blip r:embed="rId4"/>
          <a:stretch>
            <a:fillRect/>
          </a:stretch>
        </p:blipFill>
        <p:spPr>
          <a:xfrm>
            <a:off x="6248244" y="1817985"/>
            <a:ext cx="5333867" cy="1905000"/>
          </a:xfrm>
          <a:prstGeom prst="rect">
            <a:avLst/>
          </a:prstGeom>
        </p:spPr>
      </p:pic>
      <p:sp>
        <p:nvSpPr>
          <p:cNvPr id="7" name="Text 3"/>
          <p:cNvSpPr/>
          <p:nvPr/>
        </p:nvSpPr>
        <p:spPr>
          <a:xfrm>
            <a:off x="6248244" y="3900785"/>
            <a:ext cx="5333867" cy="200025"/>
          </a:xfrm>
          <a:prstGeom prst="rect">
            <a:avLst/>
          </a:prstGeom>
          <a:noFill/>
          <a:ln/>
        </p:spPr>
        <p:txBody>
          <a:bodyPr wrap="none" lIns="0" tIns="0" rIns="0" bIns="0" rtlCol="0" anchor="t"/>
          <a:lstStyle/>
          <a:p>
            <a:pPr marL="0" indent="0" algn="l">
              <a:lnSpc>
                <a:spcPct val="125000"/>
              </a:lnSpc>
              <a:buNone/>
            </a:pPr>
            <a:r>
              <a:rPr lang="en-US" sz="1050" dirty="0">
                <a:solidFill>
                  <a:srgbClr val="1C1A17"/>
                </a:solidFill>
                <a:latin typeface="Crimson Text" pitchFamily="34" charset="0"/>
                <a:ea typeface="Crimson Text" pitchFamily="34" charset="-122"/>
                <a:cs typeface="Crimson Text" pitchFamily="34" charset="-120"/>
              </a:rPr>
              <a:t>Precision irrigation and modern equipment</a:t>
            </a:r>
            <a:endParaRPr lang="en-US" sz="1050" dirty="0"/>
          </a:p>
        </p:txBody>
      </p:sp>
      <p:sp>
        <p:nvSpPr>
          <p:cNvPr id="8" name="Text 4"/>
          <p:cNvSpPr/>
          <p:nvPr/>
        </p:nvSpPr>
        <p:spPr>
          <a:xfrm>
            <a:off x="609585" y="4304010"/>
            <a:ext cx="763271"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01</a:t>
            </a:r>
            <a:endParaRPr lang="en-US" sz="1400" dirty="0"/>
          </a:p>
        </p:txBody>
      </p:sp>
      <p:sp>
        <p:nvSpPr>
          <p:cNvPr id="9" name="Shape 5"/>
          <p:cNvSpPr/>
          <p:nvPr/>
        </p:nvSpPr>
        <p:spPr>
          <a:xfrm>
            <a:off x="609585" y="4552950"/>
            <a:ext cx="2514537" cy="19050"/>
          </a:xfrm>
          <a:prstGeom prst="rect">
            <a:avLst/>
          </a:prstGeom>
          <a:solidFill>
            <a:srgbClr val="0A192F"/>
          </a:solidFill>
          <a:ln/>
        </p:spPr>
      </p:sp>
      <p:sp>
        <p:nvSpPr>
          <p:cNvPr id="10" name="Text 6"/>
          <p:cNvSpPr/>
          <p:nvPr/>
        </p:nvSpPr>
        <p:spPr>
          <a:xfrm>
            <a:off x="609585" y="4685963"/>
            <a:ext cx="2514537"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Uncertain returns</a:t>
            </a:r>
            <a:endParaRPr lang="en-US" sz="1700" dirty="0"/>
          </a:p>
        </p:txBody>
      </p:sp>
      <p:sp>
        <p:nvSpPr>
          <p:cNvPr id="11" name="Text 7"/>
          <p:cNvSpPr/>
          <p:nvPr/>
        </p:nvSpPr>
        <p:spPr>
          <a:xfrm>
            <a:off x="3428914" y="4304010"/>
            <a:ext cx="784999"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02</a:t>
            </a:r>
            <a:endParaRPr lang="en-US" sz="1400" dirty="0"/>
          </a:p>
        </p:txBody>
      </p:sp>
      <p:sp>
        <p:nvSpPr>
          <p:cNvPr id="12" name="Shape 8"/>
          <p:cNvSpPr/>
          <p:nvPr/>
        </p:nvSpPr>
        <p:spPr>
          <a:xfrm>
            <a:off x="3428914" y="4552950"/>
            <a:ext cx="2514537" cy="19050"/>
          </a:xfrm>
          <a:prstGeom prst="rect">
            <a:avLst/>
          </a:prstGeom>
          <a:solidFill>
            <a:srgbClr val="0A192F"/>
          </a:solidFill>
          <a:ln/>
        </p:spPr>
      </p:sp>
      <p:sp>
        <p:nvSpPr>
          <p:cNvPr id="13" name="Text 9"/>
          <p:cNvSpPr/>
          <p:nvPr/>
        </p:nvSpPr>
        <p:spPr>
          <a:xfrm>
            <a:off x="3428914" y="4685963"/>
            <a:ext cx="2514537"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Weaker investment incentives</a:t>
            </a:r>
            <a:endParaRPr lang="en-US" sz="1700" dirty="0"/>
          </a:p>
        </p:txBody>
      </p:sp>
      <p:sp>
        <p:nvSpPr>
          <p:cNvPr id="14" name="Text 10"/>
          <p:cNvSpPr/>
          <p:nvPr/>
        </p:nvSpPr>
        <p:spPr>
          <a:xfrm>
            <a:off x="6248244" y="4304010"/>
            <a:ext cx="784999"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03</a:t>
            </a:r>
            <a:endParaRPr lang="en-US" sz="1400" dirty="0"/>
          </a:p>
        </p:txBody>
      </p:sp>
      <p:sp>
        <p:nvSpPr>
          <p:cNvPr id="15" name="Shape 11"/>
          <p:cNvSpPr/>
          <p:nvPr/>
        </p:nvSpPr>
        <p:spPr>
          <a:xfrm>
            <a:off x="6248244" y="4552950"/>
            <a:ext cx="2514537" cy="19050"/>
          </a:xfrm>
          <a:prstGeom prst="rect">
            <a:avLst/>
          </a:prstGeom>
          <a:solidFill>
            <a:srgbClr val="0A192F"/>
          </a:solidFill>
          <a:ln/>
        </p:spPr>
      </p:sp>
      <p:sp>
        <p:nvSpPr>
          <p:cNvPr id="16" name="Text 12"/>
          <p:cNvSpPr/>
          <p:nvPr/>
        </p:nvSpPr>
        <p:spPr>
          <a:xfrm>
            <a:off x="6248244" y="4685963"/>
            <a:ext cx="2514537" cy="237430"/>
          </a:xfrm>
          <a:prstGeom prst="rect">
            <a:avLst/>
          </a:prstGeom>
          <a:noFill/>
          <a:ln/>
        </p:spPr>
        <p:txBody>
          <a:bodyPr wrap="none" lIns="0" tIns="0" rIns="0" bIns="0" rtlCol="0" anchor="t"/>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Slower technology adoption</a:t>
            </a:r>
            <a:endParaRPr lang="en-US" sz="1700" dirty="0"/>
          </a:p>
        </p:txBody>
      </p:sp>
      <p:sp>
        <p:nvSpPr>
          <p:cNvPr id="17" name="Text 13"/>
          <p:cNvSpPr/>
          <p:nvPr/>
        </p:nvSpPr>
        <p:spPr>
          <a:xfrm>
            <a:off x="9067573" y="4304010"/>
            <a:ext cx="784999" cy="177800"/>
          </a:xfrm>
          <a:prstGeom prst="rect">
            <a:avLst/>
          </a:prstGeom>
          <a:noFill/>
          <a:ln/>
        </p:spPr>
        <p:txBody>
          <a:bodyPr wrap="none" lIns="0" tIns="0" rIns="0" bIns="0" rtlCol="0" anchor="t"/>
          <a:lstStyle/>
          <a:p>
            <a:pPr marL="0" indent="0" algn="l">
              <a:lnSpc>
                <a:spcPct val="83000"/>
              </a:lnSpc>
              <a:buNone/>
            </a:pPr>
            <a:r>
              <a:rPr lang="en-US" sz="1400" dirty="0">
                <a:solidFill>
                  <a:srgbClr val="0A192F"/>
                </a:solidFill>
                <a:latin typeface="Crimson Text SemiBold" pitchFamily="34" charset="0"/>
                <a:ea typeface="Crimson Text SemiBold" pitchFamily="34" charset="-122"/>
                <a:cs typeface="Crimson Text SemiBold" pitchFamily="34" charset="-120"/>
              </a:rPr>
              <a:t>04</a:t>
            </a:r>
            <a:endParaRPr lang="en-US" sz="1400" dirty="0"/>
          </a:p>
        </p:txBody>
      </p:sp>
      <p:sp>
        <p:nvSpPr>
          <p:cNvPr id="18" name="Shape 14"/>
          <p:cNvSpPr/>
          <p:nvPr/>
        </p:nvSpPr>
        <p:spPr>
          <a:xfrm>
            <a:off x="9067573" y="4552950"/>
            <a:ext cx="2514537" cy="19050"/>
          </a:xfrm>
          <a:prstGeom prst="rect">
            <a:avLst/>
          </a:prstGeom>
          <a:solidFill>
            <a:srgbClr val="0A192F"/>
          </a:solidFill>
          <a:ln/>
        </p:spPr>
      </p:sp>
      <p:sp>
        <p:nvSpPr>
          <p:cNvPr id="19" name="Text 15"/>
          <p:cNvSpPr/>
          <p:nvPr/>
        </p:nvSpPr>
        <p:spPr>
          <a:xfrm>
            <a:off x="9067573" y="4685963"/>
            <a:ext cx="2514537"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000000"/>
                </a:solidFill>
                <a:latin typeface="Crimson Text" pitchFamily="34" charset="0"/>
                <a:ea typeface="Crimson Text" pitchFamily="34" charset="-122"/>
                <a:cs typeface="Crimson Text" pitchFamily="34" charset="-120"/>
              </a:rPr>
              <a:t>Potentially weaker productivity</a:t>
            </a:r>
            <a:endParaRPr lang="en-US" sz="1700" dirty="0"/>
          </a:p>
        </p:txBody>
      </p:sp>
      <p:sp>
        <p:nvSpPr>
          <p:cNvPr id="20" name="Text 16"/>
          <p:cNvSpPr/>
          <p:nvPr/>
        </p:nvSpPr>
        <p:spPr>
          <a:xfrm>
            <a:off x="609585" y="5356721"/>
            <a:ext cx="10972526" cy="647700"/>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1C1A17"/>
                </a:solidFill>
                <a:latin typeface="Crimson Text" pitchFamily="34" charset="0"/>
                <a:ea typeface="Crimson Text" pitchFamily="34" charset="-122"/>
                <a:cs typeface="Crimson Text" pitchFamily="34" charset="-120"/>
              </a:rPr>
              <a:t>Better seeds, irrigation, equipment, and efficient techniques need investment. These effects are possible, not inevitable: policy design and the wider economy matter.</a:t>
            </a:r>
            <a:endParaRPr lang="en-US" sz="1700" dirty="0"/>
          </a:p>
        </p:txBody>
      </p:sp>
      <p:sp>
        <p:nvSpPr>
          <p:cNvPr id="21" name="Text 17"/>
          <p:cNvSpPr/>
          <p:nvPr/>
        </p:nvSpPr>
        <p:spPr>
          <a:xfrm>
            <a:off x="10017172" y="135235"/>
            <a:ext cx="2174523" cy="186630"/>
          </a:xfrm>
          <a:prstGeom prst="rect">
            <a:avLst/>
          </a:prstGeom>
          <a:noFill/>
          <a:ln/>
        </p:spPr>
        <p:txBody>
          <a:bodyPr wrap="none" lIns="0" tIns="0" rIns="0" bIns="0" rtlCol="0" anchor="ctr"/>
          <a:lstStyle/>
          <a:p>
            <a:pPr marL="0" indent="0" algn="l">
              <a:lnSpc>
                <a:spcPct val="125000"/>
              </a:lnSpc>
              <a:buNone/>
            </a:pPr>
            <a:r>
              <a:rPr lang="en-US" sz="1000" dirty="0">
                <a:solidFill>
                  <a:srgbClr val="1C1A17"/>
                </a:solidFill>
                <a:latin typeface="Crimson Text" pitchFamily="34" charset="0"/>
                <a:ea typeface="Crimson Text" pitchFamily="34" charset="-122"/>
                <a:cs typeface="Crimson Text" pitchFamily="34" charset="-120"/>
              </a:rPr>
              <a:t>Limitations of Government Intervention</a:t>
            </a:r>
            <a:endParaRPr lang="en-US" sz="1000" dirty="0"/>
          </a:p>
        </p:txBody>
      </p:sp>
      <p:sp>
        <p:nvSpPr>
          <p:cNvPr id="22" name="Text 18"/>
          <p:cNvSpPr/>
          <p:nvPr/>
        </p:nvSpPr>
        <p:spPr>
          <a:xfrm>
            <a:off x="10308471" y="6536035"/>
            <a:ext cx="1883224" cy="186630"/>
          </a:xfrm>
          <a:prstGeom prst="rect">
            <a:avLst/>
          </a:prstGeom>
          <a:noFill/>
          <a:ln/>
        </p:spPr>
        <p:txBody>
          <a:bodyPr wrap="none" lIns="0" tIns="0" rIns="0" bIns="0" rtlCol="0" anchor="ctr"/>
          <a:lstStyle/>
          <a:p>
            <a:pPr marL="0" indent="0" algn="l">
              <a:lnSpc>
                <a:spcPct val="125000"/>
              </a:lnSpc>
              <a:buNone/>
            </a:pPr>
            <a:endParaRPr lang="en-US" sz="1000" dirty="0"/>
          </a:p>
        </p:txBody>
      </p:sp>
      <p:sp>
        <p:nvSpPr>
          <p:cNvPr id="23" name="Rectangle 22">
            <a:extLst>
              <a:ext uri="{FF2B5EF4-FFF2-40B4-BE49-F238E27FC236}">
                <a16:creationId xmlns:a16="http://schemas.microsoft.com/office/drawing/2014/main" id="{83DEFBBC-67DF-7711-D24C-13D6386C3270}"/>
              </a:ext>
            </a:extLst>
          </p:cNvPr>
          <p:cNvSpPr/>
          <p:nvPr/>
        </p:nvSpPr>
        <p:spPr>
          <a:xfrm>
            <a:off x="10917044" y="6490010"/>
            <a:ext cx="1274651" cy="367990"/>
          </a:xfrm>
          <a:prstGeom prst="rect">
            <a:avLst/>
          </a:prstGeom>
          <a:solidFill>
            <a:srgbClr val="FE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33400"/>
            <a:ext cx="11582110"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FFFFFF"/>
                </a:solidFill>
                <a:latin typeface="Federo" pitchFamily="34" charset="0"/>
                <a:ea typeface="Federo" pitchFamily="34" charset="-122"/>
                <a:cs typeface="Federo" pitchFamily="34" charset="-120"/>
              </a:rPr>
              <a:t>THE SHARED CHALLENGE</a:t>
            </a:r>
            <a:endParaRPr lang="en-US" sz="1050" dirty="0"/>
          </a:p>
        </p:txBody>
      </p:sp>
      <p:sp>
        <p:nvSpPr>
          <p:cNvPr id="3" name="Text 1"/>
          <p:cNvSpPr/>
          <p:nvPr/>
        </p:nvSpPr>
        <p:spPr>
          <a:xfrm>
            <a:off x="609585" y="842620"/>
            <a:ext cx="10972526" cy="446980"/>
          </a:xfrm>
          <a:prstGeom prst="rect">
            <a:avLst/>
          </a:prstGeom>
          <a:noFill/>
          <a:ln/>
        </p:spPr>
        <p:txBody>
          <a:bodyPr wrap="none" lIns="0" tIns="0" rIns="0" bIns="0" rtlCol="0" anchor="t"/>
          <a:lstStyle/>
          <a:p>
            <a:pPr marL="0" indent="0" algn="l">
              <a:lnSpc>
                <a:spcPct val="92000"/>
              </a:lnSpc>
              <a:buNone/>
            </a:pPr>
            <a:r>
              <a:rPr lang="en-US" sz="3200" dirty="0">
                <a:solidFill>
                  <a:srgbClr val="FFFFFF"/>
                </a:solidFill>
                <a:latin typeface="Federo" pitchFamily="34" charset="0"/>
                <a:ea typeface="Federo" pitchFamily="34" charset="-122"/>
                <a:cs typeface="Federo" pitchFamily="34" charset="-120"/>
              </a:rPr>
              <a:t>Three limitations. One underlying challenge.</a:t>
            </a:r>
            <a:endParaRPr lang="en-US" sz="3200" dirty="0"/>
          </a:p>
        </p:txBody>
      </p:sp>
      <p:pic>
        <p:nvPicPr>
          <p:cNvPr id="4" name="Image 0" descr="preencoded.png"/>
          <p:cNvPicPr>
            <a:picLocks noChangeAspect="1"/>
          </p:cNvPicPr>
          <p:nvPr/>
        </p:nvPicPr>
        <p:blipFill>
          <a:blip r:embed="rId3"/>
          <a:stretch>
            <a:fillRect/>
          </a:stretch>
        </p:blipFill>
        <p:spPr>
          <a:xfrm>
            <a:off x="1555711" y="1466520"/>
            <a:ext cx="9080273" cy="5068094"/>
          </a:xfrm>
          <a:prstGeom prst="rect">
            <a:avLst/>
          </a:prstGeom>
        </p:spPr>
      </p:pic>
      <p:sp>
        <p:nvSpPr>
          <p:cNvPr id="5" name="Text 2"/>
          <p:cNvSpPr/>
          <p:nvPr/>
        </p:nvSpPr>
        <p:spPr>
          <a:xfrm>
            <a:off x="10017172" y="135235"/>
            <a:ext cx="2174523" cy="186630"/>
          </a:xfrm>
          <a:prstGeom prst="rect">
            <a:avLst/>
          </a:prstGeom>
          <a:noFill/>
          <a:ln/>
        </p:spPr>
        <p:txBody>
          <a:bodyPr wrap="none" lIns="0" tIns="0" rIns="0" bIns="0" rtlCol="0" anchor="ctr"/>
          <a:lstStyle/>
          <a:p>
            <a:pPr marL="0" indent="0" algn="l">
              <a:lnSpc>
                <a:spcPct val="125000"/>
              </a:lnSpc>
              <a:buNone/>
            </a:pPr>
            <a:r>
              <a:rPr lang="en-US" sz="1000" dirty="0">
                <a:solidFill>
                  <a:srgbClr val="FFFFFF"/>
                </a:solidFill>
                <a:latin typeface="Crimson Text" pitchFamily="34" charset="0"/>
                <a:ea typeface="Crimson Text" pitchFamily="34" charset="-122"/>
                <a:cs typeface="Crimson Text" pitchFamily="34" charset="-120"/>
              </a:rPr>
              <a:t>Limitations of Government Intervention</a:t>
            </a:r>
            <a:endParaRPr lang="en-US" sz="1000" dirty="0"/>
          </a:p>
        </p:txBody>
      </p:sp>
      <p:sp>
        <p:nvSpPr>
          <p:cNvPr id="7" name="Rectangle 6">
            <a:extLst>
              <a:ext uri="{FF2B5EF4-FFF2-40B4-BE49-F238E27FC236}">
                <a16:creationId xmlns:a16="http://schemas.microsoft.com/office/drawing/2014/main" id="{90BF2D9C-3A44-B77A-8600-6915E90BC1CC}"/>
              </a:ext>
            </a:extLst>
          </p:cNvPr>
          <p:cNvSpPr/>
          <p:nvPr/>
        </p:nvSpPr>
        <p:spPr>
          <a:xfrm>
            <a:off x="10917044" y="6490010"/>
            <a:ext cx="1274651" cy="367990"/>
          </a:xfrm>
          <a:prstGeom prst="rect">
            <a:avLst/>
          </a:prstGeom>
          <a:solidFill>
            <a:srgbClr val="091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558800"/>
            <a:ext cx="11582110"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87552F"/>
                </a:solidFill>
                <a:latin typeface="Federo" pitchFamily="34" charset="0"/>
                <a:ea typeface="Federo" pitchFamily="34" charset="-122"/>
                <a:cs typeface="Federo" pitchFamily="34" charset="-120"/>
              </a:rPr>
              <a:t>BETTER POLICY DESIGN</a:t>
            </a:r>
            <a:endParaRPr lang="en-US" sz="1050" dirty="0"/>
          </a:p>
        </p:txBody>
      </p:sp>
      <p:sp>
        <p:nvSpPr>
          <p:cNvPr id="3" name="Text 1"/>
          <p:cNvSpPr/>
          <p:nvPr/>
        </p:nvSpPr>
        <p:spPr>
          <a:xfrm>
            <a:off x="609585" y="868020"/>
            <a:ext cx="10972526" cy="446980"/>
          </a:xfrm>
          <a:prstGeom prst="rect">
            <a:avLst/>
          </a:prstGeom>
          <a:noFill/>
          <a:ln/>
        </p:spPr>
        <p:txBody>
          <a:bodyPr wrap="none" lIns="0" tIns="0" rIns="0" bIns="0" rtlCol="0" anchor="t"/>
          <a:lstStyle/>
          <a:p>
            <a:pPr marL="0" indent="0" algn="l">
              <a:lnSpc>
                <a:spcPct val="92000"/>
              </a:lnSpc>
              <a:buNone/>
            </a:pPr>
            <a:r>
              <a:rPr lang="en-US" sz="3200" dirty="0">
                <a:solidFill>
                  <a:srgbClr val="000000"/>
                </a:solidFill>
                <a:latin typeface="Federo" pitchFamily="34" charset="0"/>
                <a:ea typeface="Federo" pitchFamily="34" charset="-122"/>
                <a:cs typeface="Federo" pitchFamily="34" charset="-120"/>
              </a:rPr>
              <a:t>Smarter, not simply less, government</a:t>
            </a:r>
            <a:endParaRPr lang="en-US" sz="3200" dirty="0"/>
          </a:p>
        </p:txBody>
      </p:sp>
      <p:sp>
        <p:nvSpPr>
          <p:cNvPr id="4" name="Shape 2"/>
          <p:cNvSpPr/>
          <p:nvPr/>
        </p:nvSpPr>
        <p:spPr>
          <a:xfrm>
            <a:off x="609585" y="2246015"/>
            <a:ext cx="3454314" cy="2320925"/>
          </a:xfrm>
          <a:prstGeom prst="rect">
            <a:avLst/>
          </a:prstGeom>
          <a:solidFill>
            <a:srgbClr val="0E4D3E"/>
          </a:solidFill>
          <a:ln/>
        </p:spPr>
      </p:sp>
      <p:sp>
        <p:nvSpPr>
          <p:cNvPr id="5" name="Text 3"/>
          <p:cNvSpPr/>
          <p:nvPr/>
        </p:nvSpPr>
        <p:spPr>
          <a:xfrm>
            <a:off x="914377" y="2557165"/>
            <a:ext cx="2844729"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Crimson Text" pitchFamily="34" charset="0"/>
                <a:ea typeface="Crimson Text" pitchFamily="34" charset="-122"/>
                <a:cs typeface="Crimson Text" pitchFamily="34" charset="-120"/>
              </a:rPr>
              <a:t>Proportionate regulation</a:t>
            </a:r>
            <a:endParaRPr lang="en-US" sz="2000" dirty="0"/>
          </a:p>
        </p:txBody>
      </p:sp>
      <p:sp>
        <p:nvSpPr>
          <p:cNvPr id="6" name="Shape 4"/>
          <p:cNvSpPr/>
          <p:nvPr/>
        </p:nvSpPr>
        <p:spPr>
          <a:xfrm>
            <a:off x="914377" y="3036590"/>
            <a:ext cx="938685" cy="19050"/>
          </a:xfrm>
          <a:prstGeom prst="roundRect">
            <a:avLst>
              <a:gd name="adj" fmla="val 49999"/>
            </a:avLst>
          </a:prstGeom>
          <a:solidFill>
            <a:srgbClr val="D4AF37"/>
          </a:solidFill>
          <a:ln/>
        </p:spPr>
      </p:sp>
      <p:sp>
        <p:nvSpPr>
          <p:cNvPr id="7" name="Text 5"/>
          <p:cNvSpPr/>
          <p:nvPr/>
        </p:nvSpPr>
        <p:spPr>
          <a:xfrm>
            <a:off x="914377" y="3233440"/>
            <a:ext cx="2844729"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FFFFFF"/>
                </a:solidFill>
                <a:latin typeface="Crimson Text" pitchFamily="34" charset="0"/>
                <a:ea typeface="Crimson Text" pitchFamily="34" charset="-122"/>
                <a:cs typeface="Crimson Text" pitchFamily="34" charset="-120"/>
              </a:rPr>
              <a:t>Protect the public without unnecessary burdens.</a:t>
            </a:r>
            <a:endParaRPr lang="en-US" sz="1800" dirty="0"/>
          </a:p>
        </p:txBody>
      </p:sp>
      <p:sp>
        <p:nvSpPr>
          <p:cNvPr id="8" name="Shape 6"/>
          <p:cNvSpPr/>
          <p:nvPr/>
        </p:nvSpPr>
        <p:spPr>
          <a:xfrm>
            <a:off x="4368691" y="2246015"/>
            <a:ext cx="3454314" cy="2320925"/>
          </a:xfrm>
          <a:prstGeom prst="rect">
            <a:avLst/>
          </a:prstGeom>
          <a:solidFill>
            <a:srgbClr val="0A192F"/>
          </a:solidFill>
          <a:ln/>
        </p:spPr>
      </p:sp>
      <p:sp>
        <p:nvSpPr>
          <p:cNvPr id="9" name="Text 7"/>
          <p:cNvSpPr/>
          <p:nvPr/>
        </p:nvSpPr>
        <p:spPr>
          <a:xfrm>
            <a:off x="4673483" y="2557165"/>
            <a:ext cx="2844729"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Crimson Text" pitchFamily="34" charset="0"/>
                <a:ea typeface="Crimson Text" pitchFamily="34" charset="-122"/>
                <a:cs typeface="Crimson Text" pitchFamily="34" charset="-120"/>
              </a:rPr>
              <a:t>Well-designed price policies</a:t>
            </a:r>
            <a:endParaRPr lang="en-US" sz="2000" dirty="0"/>
          </a:p>
        </p:txBody>
      </p:sp>
      <p:sp>
        <p:nvSpPr>
          <p:cNvPr id="10" name="Shape 8"/>
          <p:cNvSpPr/>
          <p:nvPr/>
        </p:nvSpPr>
        <p:spPr>
          <a:xfrm>
            <a:off x="4673483" y="3036590"/>
            <a:ext cx="938685" cy="19050"/>
          </a:xfrm>
          <a:prstGeom prst="roundRect">
            <a:avLst>
              <a:gd name="adj" fmla="val 49999"/>
            </a:avLst>
          </a:prstGeom>
          <a:solidFill>
            <a:srgbClr val="D4AF37"/>
          </a:solidFill>
          <a:ln/>
        </p:spPr>
      </p:sp>
      <p:sp>
        <p:nvSpPr>
          <p:cNvPr id="11" name="Text 9"/>
          <p:cNvSpPr/>
          <p:nvPr/>
        </p:nvSpPr>
        <p:spPr>
          <a:xfrm>
            <a:off x="4673483" y="3233440"/>
            <a:ext cx="2844729" cy="10287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FFFFFF"/>
                </a:solidFill>
                <a:latin typeface="Crimson Text" pitchFamily="34" charset="0"/>
                <a:ea typeface="Crimson Text" pitchFamily="34" charset="-122"/>
                <a:cs typeface="Crimson Text" pitchFamily="34" charset="-120"/>
              </a:rPr>
              <a:t>Consider incentives, supply responses, and unintended consequences.</a:t>
            </a:r>
            <a:endParaRPr lang="en-US" sz="1800" dirty="0"/>
          </a:p>
        </p:txBody>
      </p:sp>
      <p:sp>
        <p:nvSpPr>
          <p:cNvPr id="12" name="Shape 10"/>
          <p:cNvSpPr/>
          <p:nvPr/>
        </p:nvSpPr>
        <p:spPr>
          <a:xfrm>
            <a:off x="8127797" y="2246015"/>
            <a:ext cx="3454314" cy="2320925"/>
          </a:xfrm>
          <a:prstGeom prst="rect">
            <a:avLst/>
          </a:prstGeom>
          <a:solidFill>
            <a:srgbClr val="0E4D3E"/>
          </a:solidFill>
          <a:ln/>
        </p:spPr>
      </p:sp>
      <p:sp>
        <p:nvSpPr>
          <p:cNvPr id="13" name="Text 11"/>
          <p:cNvSpPr/>
          <p:nvPr/>
        </p:nvSpPr>
        <p:spPr>
          <a:xfrm>
            <a:off x="8432589" y="2557165"/>
            <a:ext cx="2844729"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Crimson Text" pitchFamily="34" charset="0"/>
                <a:ea typeface="Crimson Text" pitchFamily="34" charset="-122"/>
                <a:cs typeface="Crimson Text" pitchFamily="34" charset="-120"/>
              </a:rPr>
              <a:t>Support for innovation</a:t>
            </a:r>
            <a:endParaRPr lang="en-US" sz="2000" dirty="0"/>
          </a:p>
        </p:txBody>
      </p:sp>
      <p:sp>
        <p:nvSpPr>
          <p:cNvPr id="14" name="Shape 12"/>
          <p:cNvSpPr/>
          <p:nvPr/>
        </p:nvSpPr>
        <p:spPr>
          <a:xfrm>
            <a:off x="8432589" y="3036590"/>
            <a:ext cx="938685" cy="19050"/>
          </a:xfrm>
          <a:prstGeom prst="roundRect">
            <a:avLst>
              <a:gd name="adj" fmla="val 49999"/>
            </a:avLst>
          </a:prstGeom>
          <a:solidFill>
            <a:srgbClr val="D4AF37"/>
          </a:solidFill>
          <a:ln/>
        </p:spPr>
      </p:sp>
      <p:sp>
        <p:nvSpPr>
          <p:cNvPr id="15" name="Text 13"/>
          <p:cNvSpPr/>
          <p:nvPr/>
        </p:nvSpPr>
        <p:spPr>
          <a:xfrm>
            <a:off x="8432589" y="3233440"/>
            <a:ext cx="2844729" cy="10287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FFFFFF"/>
                </a:solidFill>
                <a:latin typeface="Crimson Text" pitchFamily="34" charset="0"/>
                <a:ea typeface="Crimson Text" pitchFamily="34" charset="-122"/>
                <a:cs typeface="Crimson Text" pitchFamily="34" charset="-120"/>
              </a:rPr>
              <a:t>Help farmers and businesses invest, improve productivity, and adopt better technology.</a:t>
            </a:r>
            <a:endParaRPr lang="en-US" sz="1800" dirty="0"/>
          </a:p>
        </p:txBody>
      </p:sp>
      <p:sp>
        <p:nvSpPr>
          <p:cNvPr id="16" name="Text 14"/>
          <p:cNvSpPr/>
          <p:nvPr/>
        </p:nvSpPr>
        <p:spPr>
          <a:xfrm>
            <a:off x="609585" y="5521424"/>
            <a:ext cx="10972526" cy="279400"/>
          </a:xfrm>
          <a:prstGeom prst="rect">
            <a:avLst/>
          </a:prstGeom>
          <a:noFill/>
          <a:ln/>
        </p:spPr>
        <p:txBody>
          <a:bodyPr wrap="none" lIns="0" tIns="0" rIns="0" bIns="0" rtlCol="0" anchor="t"/>
          <a:lstStyle/>
          <a:p>
            <a:pPr marL="0" indent="0" algn="l">
              <a:lnSpc>
                <a:spcPct val="92000"/>
              </a:lnSpc>
              <a:buNone/>
            </a:pPr>
            <a:r>
              <a:rPr lang="en-US" sz="2000" dirty="0">
                <a:solidFill>
                  <a:srgbClr val="000000"/>
                </a:solidFill>
                <a:latin typeface="Crimson Text" pitchFamily="34" charset="0"/>
                <a:ea typeface="Crimson Text" pitchFamily="34" charset="-122"/>
                <a:cs typeface="Crimson Text" pitchFamily="34" charset="-120"/>
              </a:rPr>
              <a:t>Public protection and economic opportunity belong in the same policy.</a:t>
            </a:r>
            <a:endParaRPr lang="en-US" sz="2000" dirty="0"/>
          </a:p>
        </p:txBody>
      </p:sp>
      <p:sp>
        <p:nvSpPr>
          <p:cNvPr id="17" name="Text 15"/>
          <p:cNvSpPr/>
          <p:nvPr/>
        </p:nvSpPr>
        <p:spPr>
          <a:xfrm>
            <a:off x="609585" y="5956399"/>
            <a:ext cx="11582110" cy="342900"/>
          </a:xfrm>
          <a:prstGeom prst="rect">
            <a:avLst/>
          </a:prstGeom>
          <a:noFill/>
          <a:ln/>
        </p:spPr>
        <p:txBody>
          <a:bodyPr wrap="none" lIns="0" tIns="0" rIns="0" bIns="0" rtlCol="0" anchor="t"/>
          <a:lstStyle/>
          <a:p>
            <a:pPr marL="0" indent="0" algn="l">
              <a:lnSpc>
                <a:spcPct val="125000"/>
              </a:lnSpc>
              <a:buNone/>
            </a:pPr>
            <a:r>
              <a:rPr lang="en-US" sz="1800" dirty="0">
                <a:solidFill>
                  <a:srgbClr val="1C1A17"/>
                </a:solidFill>
                <a:latin typeface="Crimson Text" pitchFamily="34" charset="0"/>
                <a:ea typeface="Crimson Text" pitchFamily="34" charset="-122"/>
                <a:cs typeface="Crimson Text" pitchFamily="34" charset="-120"/>
              </a:rPr>
              <a:t>The goal is effective, proportionate, thoughtfully designed intervention, rather than eliminating it.</a:t>
            </a:r>
            <a:endParaRPr lang="en-US" sz="1800" dirty="0"/>
          </a:p>
        </p:txBody>
      </p:sp>
      <p:sp>
        <p:nvSpPr>
          <p:cNvPr id="18" name="Text 16"/>
          <p:cNvSpPr/>
          <p:nvPr/>
        </p:nvSpPr>
        <p:spPr>
          <a:xfrm>
            <a:off x="10017172" y="135235"/>
            <a:ext cx="2174523" cy="186630"/>
          </a:xfrm>
          <a:prstGeom prst="rect">
            <a:avLst/>
          </a:prstGeom>
          <a:noFill/>
          <a:ln/>
        </p:spPr>
        <p:txBody>
          <a:bodyPr wrap="none" lIns="0" tIns="0" rIns="0" bIns="0" rtlCol="0" anchor="ctr"/>
          <a:lstStyle/>
          <a:p>
            <a:pPr marL="0" indent="0" algn="l">
              <a:lnSpc>
                <a:spcPct val="125000"/>
              </a:lnSpc>
              <a:buNone/>
            </a:pPr>
            <a:r>
              <a:rPr lang="en-US" sz="1000" dirty="0">
                <a:solidFill>
                  <a:srgbClr val="1C1A17"/>
                </a:solidFill>
                <a:latin typeface="Crimson Text" pitchFamily="34" charset="0"/>
                <a:ea typeface="Crimson Text" pitchFamily="34" charset="-122"/>
                <a:cs typeface="Crimson Text" pitchFamily="34" charset="-120"/>
              </a:rPr>
              <a:t>Limitations of Government Intervention</a:t>
            </a:r>
            <a:endParaRPr lang="en-US" sz="1000" dirty="0"/>
          </a:p>
        </p:txBody>
      </p:sp>
      <p:sp>
        <p:nvSpPr>
          <p:cNvPr id="19" name="Text 17"/>
          <p:cNvSpPr/>
          <p:nvPr/>
        </p:nvSpPr>
        <p:spPr>
          <a:xfrm>
            <a:off x="10196961" y="6435676"/>
            <a:ext cx="1883224" cy="186630"/>
          </a:xfrm>
          <a:prstGeom prst="rect">
            <a:avLst/>
          </a:prstGeom>
          <a:noFill/>
          <a:ln/>
        </p:spPr>
        <p:txBody>
          <a:bodyPr wrap="none" lIns="0" tIns="0" rIns="0" bIns="0" rtlCol="0" anchor="ctr"/>
          <a:lstStyle/>
          <a:p>
            <a:pPr marL="0" indent="0" algn="l">
              <a:lnSpc>
                <a:spcPct val="125000"/>
              </a:lnSpc>
              <a:buNone/>
            </a:pPr>
            <a:endParaRPr lang="en-US" sz="1000" dirty="0"/>
          </a:p>
        </p:txBody>
      </p:sp>
      <p:sp>
        <p:nvSpPr>
          <p:cNvPr id="20" name="Rectangle 19">
            <a:extLst>
              <a:ext uri="{FF2B5EF4-FFF2-40B4-BE49-F238E27FC236}">
                <a16:creationId xmlns:a16="http://schemas.microsoft.com/office/drawing/2014/main" id="{BE1C0D00-19C4-9580-84CC-D1BD8AA39B94}"/>
              </a:ext>
            </a:extLst>
          </p:cNvPr>
          <p:cNvSpPr/>
          <p:nvPr/>
        </p:nvSpPr>
        <p:spPr>
          <a:xfrm>
            <a:off x="10917044" y="6490010"/>
            <a:ext cx="1274651" cy="367990"/>
          </a:xfrm>
          <a:prstGeom prst="rect">
            <a:avLst/>
          </a:prstGeom>
          <a:solidFill>
            <a:srgbClr val="FE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6705432"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FFFFFF"/>
                </a:solidFill>
                <a:latin typeface="Federo" pitchFamily="34" charset="0"/>
                <a:ea typeface="Federo" pitchFamily="34" charset="-122"/>
                <a:cs typeface="Federo" pitchFamily="34" charset="-120"/>
              </a:rPr>
              <a:t>THE QUESTION TO TAKE FORWARD</a:t>
            </a:r>
            <a:endParaRPr lang="en-US" sz="1050" dirty="0"/>
          </a:p>
        </p:txBody>
      </p:sp>
      <p:sp>
        <p:nvSpPr>
          <p:cNvPr id="3" name="Text 1"/>
          <p:cNvSpPr/>
          <p:nvPr/>
        </p:nvSpPr>
        <p:spPr>
          <a:xfrm>
            <a:off x="609585" y="1759479"/>
            <a:ext cx="6095848" cy="1117600"/>
          </a:xfrm>
          <a:prstGeom prst="rect">
            <a:avLst/>
          </a:prstGeom>
          <a:noFill/>
          <a:ln/>
        </p:spPr>
        <p:txBody>
          <a:bodyPr wrap="square" lIns="0" tIns="0" rIns="0" bIns="0" rtlCol="0" anchor="t">
            <a:normAutofit lnSpcReduction="10000"/>
          </a:bodyPr>
          <a:lstStyle/>
          <a:p>
            <a:pPr marL="0" indent="0" algn="l">
              <a:lnSpc>
                <a:spcPct val="92000"/>
              </a:lnSpc>
              <a:buNone/>
            </a:pPr>
            <a:r>
              <a:rPr lang="en-US" sz="4000" dirty="0">
                <a:solidFill>
                  <a:srgbClr val="FFFFFF"/>
                </a:solidFill>
                <a:latin typeface="Federo" pitchFamily="34" charset="0"/>
                <a:ea typeface="Federo" pitchFamily="34" charset="-122"/>
                <a:cs typeface="Federo" pitchFamily="34" charset="-120"/>
              </a:rPr>
              <a:t>Good policy does more than solve today’s problem.</a:t>
            </a:r>
            <a:endParaRPr lang="en-US" sz="4000" dirty="0"/>
          </a:p>
        </p:txBody>
      </p:sp>
      <p:sp>
        <p:nvSpPr>
          <p:cNvPr id="4" name="Shape 2"/>
          <p:cNvSpPr/>
          <p:nvPr/>
        </p:nvSpPr>
        <p:spPr>
          <a:xfrm>
            <a:off x="609585" y="3124200"/>
            <a:ext cx="2011610" cy="19050"/>
          </a:xfrm>
          <a:prstGeom prst="roundRect">
            <a:avLst>
              <a:gd name="adj" fmla="val 49999"/>
            </a:avLst>
          </a:prstGeom>
          <a:solidFill>
            <a:srgbClr val="D4AF37"/>
          </a:solidFill>
          <a:ln/>
        </p:spPr>
      </p:sp>
      <p:sp>
        <p:nvSpPr>
          <p:cNvPr id="5" name="Text 3"/>
          <p:cNvSpPr/>
          <p:nvPr/>
        </p:nvSpPr>
        <p:spPr>
          <a:xfrm>
            <a:off x="609585" y="3390900"/>
            <a:ext cx="6095848" cy="1651000"/>
          </a:xfrm>
          <a:prstGeom prst="rect">
            <a:avLst/>
          </a:prstGeom>
          <a:noFill/>
          <a:ln/>
        </p:spPr>
        <p:txBody>
          <a:bodyPr wrap="square" lIns="0" tIns="0" rIns="0" bIns="0" rtlCol="0" anchor="t">
            <a:normAutofit/>
          </a:bodyPr>
          <a:lstStyle/>
          <a:p>
            <a:pPr marL="0" indent="0" algn="l">
              <a:lnSpc>
                <a:spcPct val="125000"/>
              </a:lnSpc>
              <a:spcAft>
                <a:spcPts val="1550"/>
              </a:spcAft>
              <a:buNone/>
            </a:pPr>
            <a:r>
              <a:rPr lang="en-US" sz="1900" dirty="0">
                <a:solidFill>
                  <a:srgbClr val="FFFFFF"/>
                </a:solidFill>
                <a:latin typeface="Crimson Text" pitchFamily="34" charset="0"/>
                <a:ea typeface="Crimson Text" pitchFamily="34" charset="-122"/>
                <a:cs typeface="Crimson Text" pitchFamily="34" charset="-120"/>
              </a:rPr>
              <a:t>It must also consider the incentives, opportunities, and unintended consequences it may create tomorrow.</a:t>
            </a:r>
            <a:endParaRPr lang="en-US" sz="1900" dirty="0"/>
          </a:p>
          <a:p>
            <a:pPr marL="0" indent="0" algn="l">
              <a:lnSpc>
                <a:spcPct val="125000"/>
              </a:lnSpc>
              <a:buNone/>
            </a:pPr>
            <a:r>
              <a:rPr lang="en-US" sz="1900" dirty="0">
                <a:solidFill>
                  <a:srgbClr val="FFFFFF"/>
                </a:solidFill>
                <a:latin typeface="Crimson Text" pitchFamily="34" charset="0"/>
                <a:ea typeface="Crimson Text" pitchFamily="34" charset="-122"/>
                <a:cs typeface="Crimson Text" pitchFamily="34" charset="-120"/>
              </a:rPr>
              <a:t>How can we protect society without unintentionally holding back the very people we want to help?</a:t>
            </a:r>
            <a:endParaRPr lang="en-US" sz="1900" dirty="0"/>
          </a:p>
        </p:txBody>
      </p:sp>
      <p:sp>
        <p:nvSpPr>
          <p:cNvPr id="6" name="Text 4"/>
          <p:cNvSpPr/>
          <p:nvPr/>
        </p:nvSpPr>
        <p:spPr>
          <a:xfrm>
            <a:off x="609585" y="5975350"/>
            <a:ext cx="6095848" cy="279400"/>
          </a:xfrm>
          <a:prstGeom prst="rect">
            <a:avLst/>
          </a:prstGeom>
          <a:noFill/>
          <a:ln/>
        </p:spPr>
        <p:txBody>
          <a:bodyPr wrap="none" lIns="0" tIns="0" rIns="0" bIns="0" rtlCol="0" anchor="t"/>
          <a:lstStyle/>
          <a:p>
            <a:pPr marL="0" indent="0" algn="l">
              <a:lnSpc>
                <a:spcPct val="92000"/>
              </a:lnSpc>
              <a:buNone/>
            </a:pPr>
            <a:r>
              <a:rPr lang="en-US" sz="2000" dirty="0">
                <a:solidFill>
                  <a:srgbClr val="FFFFFF"/>
                </a:solidFill>
                <a:latin typeface="Crimson Text" pitchFamily="34" charset="0"/>
                <a:ea typeface="Crimson Text" pitchFamily="34" charset="-122"/>
                <a:cs typeface="Crimson Text" pitchFamily="34" charset="-120"/>
              </a:rPr>
              <a:t>Thank You</a:t>
            </a:r>
            <a:endParaRPr lang="en-US" sz="2000" dirty="0"/>
          </a:p>
        </p:txBody>
      </p:sp>
      <p:sp>
        <p:nvSpPr>
          <p:cNvPr id="8" name="Rectangle 7">
            <a:extLst>
              <a:ext uri="{FF2B5EF4-FFF2-40B4-BE49-F238E27FC236}">
                <a16:creationId xmlns:a16="http://schemas.microsoft.com/office/drawing/2014/main" id="{D2E81EB3-1AA7-E150-1FDC-B2B9041D9B0F}"/>
              </a:ext>
            </a:extLst>
          </p:cNvPr>
          <p:cNvSpPr/>
          <p:nvPr/>
        </p:nvSpPr>
        <p:spPr>
          <a:xfrm>
            <a:off x="10917044" y="6490010"/>
            <a:ext cx="1274651" cy="367990"/>
          </a:xfrm>
          <a:prstGeom prst="rect">
            <a:avLst/>
          </a:prstGeom>
          <a:solidFill>
            <a:srgbClr val="091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0" descr="preencoded.png"/>
          <p:cNvPicPr>
            <a:picLocks noChangeAspect="1"/>
          </p:cNvPicPr>
          <p:nvPr/>
        </p:nvPicPr>
        <p:blipFill>
          <a:blip r:embed="rId3"/>
          <a:stretch>
            <a:fillRect/>
          </a:stretch>
        </p:blipFill>
        <p:spPr>
          <a:xfrm>
            <a:off x="7315017" y="18638"/>
            <a:ext cx="4876678" cy="6858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867</Words>
  <Application>Microsoft Macintosh PowerPoint</Application>
  <PresentationFormat>Widescreen</PresentationFormat>
  <Paragraphs>84</Paragraphs>
  <Slides>8</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Crimson Text SemiBold</vt:lpstr>
      <vt:lpstr>Federo</vt:lpstr>
      <vt:lpstr>Crimson Text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Vikrant Singh Bais</cp:lastModifiedBy>
  <cp:revision>2</cp:revision>
  <dcterms:created xsi:type="dcterms:W3CDTF">2026-10-11T15:13:58Z</dcterms:created>
  <dcterms:modified xsi:type="dcterms:W3CDTF">2026-10-11T15:29:06Z</dcterms:modified>
</cp:coreProperties>
</file>